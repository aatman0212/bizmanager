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753600" cy="7315200"/>
  <p:notesSz cx="6858000" cy="9144000"/>
  <p:embeddedFontLst>
    <p:embeddedFont>
      <p:font typeface="Times New Roman Bold" charset="1" panose="02020803070505020304"/>
      <p:regular r:id="rId23"/>
    </p:embeddedFont>
    <p:embeddedFont>
      <p:font typeface="TT Ramillas Bold" charset="1" panose="020E0000080000020004"/>
      <p:regular r:id="rId24"/>
    </p:embeddedFont>
    <p:embeddedFont>
      <p:font typeface="Aptos" charset="1" panose="020B0004020202020204"/>
      <p:regular r:id="rId25"/>
    </p:embeddedFont>
    <p:embeddedFont>
      <p:font typeface="Calibri (MS)" charset="1" panose="020F0502020204030204"/>
      <p:regular r:id="rId26"/>
    </p:embeddedFont>
    <p:embeddedFont>
      <p:font typeface="TT Ramillas" charset="1" panose="020E0000080000020004"/>
      <p:regular r:id="rId27"/>
    </p:embeddedFont>
    <p:embeddedFont>
      <p:font typeface="Calibri (MS) Bold" charset="1" panose="020F070203040403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embeddings/oleObject2.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6.png" Type="http://schemas.openxmlformats.org/officeDocument/2006/relationships/image"/><Relationship Id="rId5"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7.png" Type="http://schemas.openxmlformats.org/officeDocument/2006/relationships/image"/><Relationship Id="rId5" Target="../embeddings/oleObject4.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77799" y="731520"/>
            <a:ext cx="9607575" cy="3546327"/>
            <a:chOff x="0" y="0"/>
            <a:chExt cx="11054080" cy="4080257"/>
          </a:xfrm>
        </p:grpSpPr>
        <p:sp>
          <p:nvSpPr>
            <p:cNvPr name="Freeform 4" id="4"/>
            <p:cNvSpPr/>
            <p:nvPr/>
          </p:nvSpPr>
          <p:spPr>
            <a:xfrm flipH="false" flipV="false" rot="0">
              <a:off x="0" y="0"/>
              <a:ext cx="11054080" cy="4080259"/>
            </a:xfrm>
            <a:custGeom>
              <a:avLst/>
              <a:gdLst/>
              <a:ahLst/>
              <a:cxnLst/>
              <a:rect r="r" b="b" t="t" l="l"/>
              <a:pathLst>
                <a:path h="4080259" w="11054080">
                  <a:moveTo>
                    <a:pt x="0" y="0"/>
                  </a:moveTo>
                  <a:lnTo>
                    <a:pt x="11054080" y="0"/>
                  </a:lnTo>
                  <a:lnTo>
                    <a:pt x="11054080" y="4080259"/>
                  </a:lnTo>
                  <a:lnTo>
                    <a:pt x="0" y="4080259"/>
                  </a:lnTo>
                  <a:close/>
                </a:path>
              </a:pathLst>
            </a:custGeom>
            <a:blipFill>
              <a:blip r:embed="rId4">
                <a:alphaModFix amt="0"/>
              </a:blip>
              <a:stretch>
                <a:fillRect l="0" t="-2788" r="0" b="-2788"/>
              </a:stretch>
            </a:blipFill>
          </p:spPr>
        </p:sp>
        <p:sp>
          <p:nvSpPr>
            <p:cNvPr name="TextBox 5" id="5"/>
            <p:cNvSpPr txBox="true"/>
            <p:nvPr/>
          </p:nvSpPr>
          <p:spPr>
            <a:xfrm>
              <a:off x="0" y="-28575"/>
              <a:ext cx="11054080" cy="4108832"/>
            </a:xfrm>
            <a:prstGeom prst="rect">
              <a:avLst/>
            </a:prstGeom>
          </p:spPr>
          <p:txBody>
            <a:bodyPr anchor="ctr" rtlCol="false" tIns="0" lIns="0" bIns="0" rIns="0"/>
            <a:lstStyle/>
            <a:p>
              <a:pPr algn="ctr">
                <a:lnSpc>
                  <a:spcPts val="4608"/>
                </a:lnSpc>
              </a:pPr>
              <a:r>
                <a:rPr lang="en-US" sz="3840" b="true">
                  <a:solidFill>
                    <a:srgbClr val="000000"/>
                  </a:solidFill>
                  <a:latin typeface="Times New Roman Bold"/>
                  <a:ea typeface="Times New Roman Bold"/>
                  <a:cs typeface="Times New Roman Bold"/>
                  <a:sym typeface="Times New Roman Bold"/>
                </a:rPr>
                <a:t>       </a:t>
              </a:r>
            </a:p>
            <a:p>
              <a:pPr algn="ctr">
                <a:lnSpc>
                  <a:spcPts val="4608"/>
                </a:lnSpc>
              </a:pPr>
              <a:r>
                <a:rPr lang="en-US" sz="3840" b="true">
                  <a:solidFill>
                    <a:srgbClr val="000000"/>
                  </a:solidFill>
                  <a:latin typeface="Times New Roman Bold"/>
                  <a:ea typeface="Times New Roman Bold"/>
                  <a:cs typeface="Times New Roman Bold"/>
                  <a:sym typeface="Times New Roman Bold"/>
                </a:rPr>
                <a:t>Project Approval Presentation</a:t>
              </a:r>
            </a:p>
            <a:p>
              <a:pPr algn="ctr">
                <a:lnSpc>
                  <a:spcPts val="4608"/>
                </a:lnSpc>
              </a:pPr>
              <a:r>
                <a:rPr lang="en-US" sz="3840" b="true">
                  <a:solidFill>
                    <a:srgbClr val="000000"/>
                  </a:solidFill>
                  <a:latin typeface="Times New Roman Bold"/>
                  <a:ea typeface="Times New Roman Bold"/>
                  <a:cs typeface="Times New Roman Bold"/>
                  <a:sym typeface="Times New Roman Bold"/>
                </a:rPr>
                <a:t>A.Y. 2026-2027</a:t>
              </a:r>
            </a:p>
            <a:p>
              <a:pPr algn="ctr">
                <a:lnSpc>
                  <a:spcPts val="2559"/>
                </a:lnSpc>
              </a:pPr>
              <a:r>
                <a:rPr lang="en-US" sz="2133" b="true">
                  <a:solidFill>
                    <a:srgbClr val="000000"/>
                  </a:solidFill>
                  <a:latin typeface="Times New Roman Bold"/>
                  <a:ea typeface="Times New Roman Bold"/>
                  <a:cs typeface="Times New Roman Bold"/>
                  <a:sym typeface="Times New Roman Bold"/>
                </a:rPr>
                <a:t>Project Title: BizManager: Cloud-Ready Retail POS, Automated Inventory Restocking &amp; Financial Intelligence System</a:t>
              </a:r>
            </a:p>
          </p:txBody>
        </p:sp>
      </p:grpSp>
      <p:sp>
        <p:nvSpPr>
          <p:cNvPr name="TextBox 6" id="6"/>
          <p:cNvSpPr txBox="true"/>
          <p:nvPr/>
        </p:nvSpPr>
        <p:spPr>
          <a:xfrm rot="0">
            <a:off x="1112482" y="3702777"/>
            <a:ext cx="7538209" cy="2667000"/>
          </a:xfrm>
          <a:prstGeom prst="rect">
            <a:avLst/>
          </a:prstGeom>
        </p:spPr>
        <p:txBody>
          <a:bodyPr anchor="t" rtlCol="false" tIns="0" lIns="0" bIns="0" rIns="0">
            <a:spAutoFit/>
          </a:bodyPr>
          <a:lstStyle/>
          <a:p>
            <a:pPr algn="just">
              <a:lnSpc>
                <a:spcPts val="2679"/>
              </a:lnSpc>
            </a:pPr>
          </a:p>
          <a:p>
            <a:pPr algn="just">
              <a:lnSpc>
                <a:spcPts val="2679"/>
              </a:lnSpc>
            </a:pPr>
            <a:r>
              <a:rPr lang="en-US" b="true" sz="2233" spc="-10">
                <a:solidFill>
                  <a:srgbClr val="000000"/>
                </a:solidFill>
                <a:latin typeface="TT Ramillas Bold"/>
                <a:ea typeface="TT Ramillas Bold"/>
                <a:cs typeface="TT Ramillas Bold"/>
                <a:sym typeface="TT Ramillas Bold"/>
              </a:rPr>
              <a:t>Presented by : </a:t>
            </a:r>
          </a:p>
          <a:p>
            <a:pPr algn="just">
              <a:lnSpc>
                <a:spcPts val="2679"/>
              </a:lnSpc>
            </a:pPr>
          </a:p>
          <a:p>
            <a:pPr algn="just">
              <a:lnSpc>
                <a:spcPts val="2679"/>
              </a:lnSpc>
            </a:pPr>
          </a:p>
          <a:p>
            <a:pPr algn="just">
              <a:lnSpc>
                <a:spcPts val="2679"/>
              </a:lnSpc>
            </a:pPr>
          </a:p>
          <a:p>
            <a:pPr algn="just">
              <a:lnSpc>
                <a:spcPts val="2679"/>
              </a:lnSpc>
            </a:pPr>
          </a:p>
          <a:p>
            <a:pPr algn="just">
              <a:lnSpc>
                <a:spcPts val="2679"/>
              </a:lnSpc>
            </a:pPr>
          </a:p>
          <a:p>
            <a:pPr algn="just">
              <a:lnSpc>
                <a:spcPts val="2679"/>
              </a:lnSpc>
            </a:pPr>
            <a:r>
              <a:rPr lang="en-US" b="true" sz="2233" spc="-10">
                <a:solidFill>
                  <a:srgbClr val="000000"/>
                </a:solidFill>
                <a:latin typeface="TT Ramillas Bold"/>
                <a:ea typeface="TT Ramillas Bold"/>
                <a:cs typeface="TT Ramillas Bold"/>
                <a:sym typeface="TT Ramillas Bold"/>
              </a:rPr>
              <a:t>Under the guidance of : Dr. Ravita Mishra</a:t>
            </a:r>
          </a:p>
        </p:txBody>
      </p:sp>
      <p:grpSp>
        <p:nvGrpSpPr>
          <p:cNvPr name="Group 7" id="7"/>
          <p:cNvGrpSpPr/>
          <p:nvPr/>
        </p:nvGrpSpPr>
        <p:grpSpPr>
          <a:xfrm rot="0">
            <a:off x="2781424" y="6789020"/>
            <a:ext cx="4190743" cy="389468"/>
            <a:chOff x="0" y="0"/>
            <a:chExt cx="5587657" cy="519290"/>
          </a:xfrm>
        </p:grpSpPr>
        <p:sp>
          <p:nvSpPr>
            <p:cNvPr name="Freeform 8" id="8"/>
            <p:cNvSpPr/>
            <p:nvPr/>
          </p:nvSpPr>
          <p:spPr>
            <a:xfrm flipH="false" flipV="false" rot="0">
              <a:off x="0" y="0"/>
              <a:ext cx="5587662" cy="519289"/>
            </a:xfrm>
            <a:custGeom>
              <a:avLst/>
              <a:gdLst/>
              <a:ahLst/>
              <a:cxnLst/>
              <a:rect r="r" b="b" t="t" l="l"/>
              <a:pathLst>
                <a:path h="519289" w="5587662">
                  <a:moveTo>
                    <a:pt x="0" y="0"/>
                  </a:moveTo>
                  <a:lnTo>
                    <a:pt x="5587662" y="0"/>
                  </a:lnTo>
                  <a:lnTo>
                    <a:pt x="5587662" y="519289"/>
                  </a:lnTo>
                  <a:lnTo>
                    <a:pt x="0" y="519289"/>
                  </a:lnTo>
                  <a:close/>
                </a:path>
              </a:pathLst>
            </a:custGeom>
            <a:blipFill>
              <a:blip r:embed="rId4">
                <a:alphaModFix amt="0"/>
              </a:blip>
              <a:stretch>
                <a:fillRect l="0" t="-159662" r="0" b="-159663"/>
              </a:stretch>
            </a:blipFill>
          </p:spPr>
        </p:sp>
        <p:sp>
          <p:nvSpPr>
            <p:cNvPr name="TextBox 9" id="9"/>
            <p:cNvSpPr txBox="true"/>
            <p:nvPr/>
          </p:nvSpPr>
          <p:spPr>
            <a:xfrm>
              <a:off x="0" y="0"/>
              <a:ext cx="5587657" cy="519290"/>
            </a:xfrm>
            <a:prstGeom prst="rect">
              <a:avLst/>
            </a:prstGeom>
          </p:spPr>
          <p:txBody>
            <a:bodyPr anchor="ctr" rtlCol="false" tIns="0" lIns="0" bIns="0" rIns="0"/>
            <a:lstStyle/>
            <a:p>
              <a:pPr algn="ctr">
                <a:lnSpc>
                  <a:spcPts val="1343"/>
                </a:lnSpc>
              </a:pPr>
              <a:r>
                <a:rPr lang="en-US" sz="1119">
                  <a:solidFill>
                    <a:srgbClr val="888888"/>
                  </a:solidFill>
                  <a:latin typeface="Aptos"/>
                  <a:ea typeface="Aptos"/>
                  <a:cs typeface="Aptos"/>
                  <a:sym typeface="Aptos"/>
                </a:rPr>
                <a:t>Computer Engineering Department, MPSTME, Mumbai Campus </a:t>
              </a:r>
            </a:p>
          </p:txBody>
        </p:sp>
      </p:grpSp>
      <p:grpSp>
        <p:nvGrpSpPr>
          <p:cNvPr name="Group 10" id="10"/>
          <p:cNvGrpSpPr/>
          <p:nvPr/>
        </p:nvGrpSpPr>
        <p:grpSpPr>
          <a:xfrm rot="0">
            <a:off x="6990083" y="6798450"/>
            <a:ext cx="2275837" cy="389468"/>
            <a:chOff x="0" y="0"/>
            <a:chExt cx="3034449" cy="519290"/>
          </a:xfrm>
        </p:grpSpPr>
        <p:sp>
          <p:nvSpPr>
            <p:cNvPr name="Freeform 11" id="11"/>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4">
                <a:alphaModFix amt="0"/>
              </a:blip>
              <a:stretch>
                <a:fillRect l="0" t="-63860" r="0" b="-63860"/>
              </a:stretch>
            </a:blipFill>
          </p:spPr>
        </p:sp>
        <p:sp>
          <p:nvSpPr>
            <p:cNvPr name="TextBox 12" id="12"/>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a:t>
              </a:r>
            </a:p>
          </p:txBody>
        </p:sp>
      </p:grpSp>
      <p:graphicFrame>
        <p:nvGraphicFramePr>
          <p:cNvPr name="Table 13" id="13"/>
          <p:cNvGraphicFramePr>
            <a:graphicFrameLocks noGrp="true"/>
          </p:cNvGraphicFramePr>
          <p:nvPr/>
        </p:nvGraphicFramePr>
        <p:xfrm>
          <a:off x="1112482" y="4390958"/>
          <a:ext cx="6556587" cy="1290638"/>
        </p:xfrm>
        <a:graphic>
          <a:graphicData uri="http://schemas.openxmlformats.org/drawingml/2006/table">
            <a:tbl>
              <a:tblPr/>
              <a:tblGrid>
                <a:gridCol w="1170819"/>
                <a:gridCol w="2562028"/>
                <a:gridCol w="2823740"/>
              </a:tblGrid>
              <a:tr h="420652">
                <a:tc>
                  <a:txBody>
                    <a:bodyPr anchor="t" rtlCol="false"/>
                    <a:lstStyle/>
                    <a:p>
                      <a:pPr algn="just">
                        <a:lnSpc>
                          <a:spcPts val="1407"/>
                        </a:lnSpc>
                        <a:defRPr/>
                      </a:pPr>
                      <a:r>
                        <a:rPr lang="en-US" b="true" sz="1173" spc="-5">
                          <a:solidFill>
                            <a:srgbClr val="000000"/>
                          </a:solidFill>
                          <a:latin typeface="TT Ramillas Bold"/>
                          <a:ea typeface="TT Ramillas Bold"/>
                          <a:cs typeface="TT Ramillas Bold"/>
                          <a:sym typeface="TT Ramillas Bold"/>
                        </a:rPr>
                        <a:t>Name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Aatman Satra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Dishank Shah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449333">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SAP ID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70322200110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527"/>
                        </a:lnSpc>
                        <a:defRPr/>
                      </a:pPr>
                      <a:r>
                        <a:rPr lang="en-US" sz="1273" spc="-5">
                          <a:solidFill>
                            <a:srgbClr val="000000"/>
                          </a:solidFill>
                          <a:latin typeface="TT Ramillas"/>
                          <a:ea typeface="TT Ramillas"/>
                          <a:cs typeface="TT Ramillas"/>
                          <a:sym typeface="TT Ramillas"/>
                        </a:rPr>
                        <a:t>70322200027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420652">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Roll No.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C157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1407"/>
                        </a:lnSpc>
                        <a:defRPr/>
                      </a:pPr>
                      <a:r>
                        <a:rPr lang="en-US" sz="1173" spc="-5">
                          <a:solidFill>
                            <a:srgbClr val="000000"/>
                          </a:solidFill>
                          <a:latin typeface="TT Ramillas"/>
                          <a:ea typeface="TT Ramillas"/>
                          <a:cs typeface="TT Ramillas"/>
                          <a:sym typeface="TT Ramillas"/>
                        </a:rPr>
                        <a:t>C181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861889" y="1563072"/>
            <a:ext cx="8107709" cy="706012"/>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Abstract</a:t>
            </a:r>
          </a:p>
        </p:txBody>
      </p:sp>
      <p:grpSp>
        <p:nvGrpSpPr>
          <p:cNvPr name="Group 4" id="4"/>
          <p:cNvGrpSpPr/>
          <p:nvPr/>
        </p:nvGrpSpPr>
        <p:grpSpPr>
          <a:xfrm rot="0">
            <a:off x="596276" y="2113817"/>
            <a:ext cx="7312270" cy="2794017"/>
            <a:chOff x="0" y="0"/>
            <a:chExt cx="8197170" cy="3132138"/>
          </a:xfrm>
        </p:grpSpPr>
        <p:sp>
          <p:nvSpPr>
            <p:cNvPr name="Freeform 5" id="5"/>
            <p:cNvSpPr/>
            <p:nvPr/>
          </p:nvSpPr>
          <p:spPr>
            <a:xfrm flipH="false" flipV="false" rot="0">
              <a:off x="0" y="0"/>
              <a:ext cx="8197170" cy="3132137"/>
            </a:xfrm>
            <a:custGeom>
              <a:avLst/>
              <a:gdLst/>
              <a:ahLst/>
              <a:cxnLst/>
              <a:rect r="r" b="b" t="t" l="l"/>
              <a:pathLst>
                <a:path h="3132137" w="8197170">
                  <a:moveTo>
                    <a:pt x="0" y="0"/>
                  </a:moveTo>
                  <a:lnTo>
                    <a:pt x="8197170" y="0"/>
                  </a:lnTo>
                  <a:lnTo>
                    <a:pt x="8197170" y="3132137"/>
                  </a:lnTo>
                  <a:lnTo>
                    <a:pt x="0" y="3132137"/>
                  </a:lnTo>
                  <a:close/>
                </a:path>
              </a:pathLst>
            </a:custGeom>
            <a:blipFill>
              <a:blip r:embed="rId3">
                <a:alphaModFix amt="0"/>
              </a:blip>
              <a:stretch>
                <a:fillRect l="0" t="-34707" r="-34852" b="-2827"/>
              </a:stretch>
            </a:blipFill>
          </p:spPr>
        </p:sp>
        <p:sp>
          <p:nvSpPr>
            <p:cNvPr name="TextBox 6" id="6"/>
            <p:cNvSpPr txBox="true"/>
            <p:nvPr/>
          </p:nvSpPr>
          <p:spPr>
            <a:xfrm>
              <a:off x="0" y="-38100"/>
              <a:ext cx="8197170" cy="3170238"/>
            </a:xfrm>
            <a:prstGeom prst="rect">
              <a:avLst/>
            </a:prstGeom>
          </p:spPr>
          <p:txBody>
            <a:bodyPr anchor="b" rtlCol="false" tIns="0" lIns="0" bIns="0" rIns="0"/>
            <a:lstStyle/>
            <a:p>
              <a:pPr algn="l" marL="267679" indent="-133840" lvl="1">
                <a:lnSpc>
                  <a:spcPts val="2495"/>
                </a:lnSpc>
              </a:pPr>
              <a:r>
                <a:rPr lang="en-US" sz="2079">
                  <a:solidFill>
                    <a:srgbClr val="000000"/>
                  </a:solidFill>
                  <a:latin typeface="Calibri (MS)"/>
                  <a:ea typeface="Calibri (MS)"/>
                  <a:cs typeface="Calibri (MS)"/>
                  <a:sym typeface="Calibri (MS)"/>
                </a:rPr>
                <a:t>Tradition</a:t>
              </a:r>
              <a:r>
                <a:rPr lang="en-US" sz="2079">
                  <a:solidFill>
                    <a:srgbClr val="000000"/>
                  </a:solidFill>
                  <a:latin typeface="Calibri (MS)"/>
                  <a:ea typeface="Calibri (MS)"/>
                  <a:cs typeface="Calibri (MS)"/>
                  <a:sym typeface="Calibri (MS)"/>
                </a:rPr>
                <a:t>al retail and small business management in emerging markets often suffers from fragmented operations, manual bookkeeping errors, delayed payment collection, and lack of real-time inventory tracking. BizManager addresses these challenges by delivering a lightweight, all-in-one web-based ERP system combining barcode-ready POS billing, dynamic NPCI-compliant UPI QR payment integration, automated purchase order restocking, and automated Profit &amp; Loss (P&amp;L) financial auditing.</a:t>
              </a: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pSp>
        <p:nvGrpSpPr>
          <p:cNvPr name="Group 3" id="3"/>
          <p:cNvGrpSpPr/>
          <p:nvPr/>
        </p:nvGrpSpPr>
        <p:grpSpPr>
          <a:xfrm rot="0">
            <a:off x="573541" y="2119861"/>
            <a:ext cx="3121338" cy="4603254"/>
            <a:chOff x="0" y="0"/>
            <a:chExt cx="4161785" cy="6137672"/>
          </a:xfrm>
        </p:grpSpPr>
        <p:sp>
          <p:nvSpPr>
            <p:cNvPr name="Freeform 4" id="4"/>
            <p:cNvSpPr/>
            <p:nvPr/>
          </p:nvSpPr>
          <p:spPr>
            <a:xfrm flipH="false" flipV="false" rot="0">
              <a:off x="0" y="0"/>
              <a:ext cx="4161785" cy="6137670"/>
            </a:xfrm>
            <a:custGeom>
              <a:avLst/>
              <a:gdLst/>
              <a:ahLst/>
              <a:cxnLst/>
              <a:rect r="r" b="b" t="t" l="l"/>
              <a:pathLst>
                <a:path h="6137670" w="4161785">
                  <a:moveTo>
                    <a:pt x="0" y="0"/>
                  </a:moveTo>
                  <a:lnTo>
                    <a:pt x="4161785" y="0"/>
                  </a:lnTo>
                  <a:lnTo>
                    <a:pt x="4161785" y="6137670"/>
                  </a:lnTo>
                  <a:lnTo>
                    <a:pt x="0" y="6137670"/>
                  </a:lnTo>
                  <a:close/>
                </a:path>
              </a:pathLst>
            </a:custGeom>
            <a:blipFill>
              <a:blip r:embed="rId3">
                <a:alphaModFix amt="0"/>
              </a:blip>
              <a:stretch>
                <a:fillRect l="0" t="-17711" r="-165609" b="47525"/>
              </a:stretch>
            </a:blipFill>
          </p:spPr>
        </p:sp>
        <p:sp>
          <p:nvSpPr>
            <p:cNvPr name="TextBox 5" id="5"/>
            <p:cNvSpPr txBox="true"/>
            <p:nvPr/>
          </p:nvSpPr>
          <p:spPr>
            <a:xfrm>
              <a:off x="0" y="-28575"/>
              <a:ext cx="4161785" cy="6166247"/>
            </a:xfrm>
            <a:prstGeom prst="rect">
              <a:avLst/>
            </a:prstGeom>
          </p:spPr>
          <p:txBody>
            <a:bodyPr anchor="b" rtlCol="false" tIns="0" lIns="0" bIns="0" rIns="0"/>
            <a:lstStyle/>
            <a:p>
              <a:pPr algn="l" marL="205908" indent="-102954" lvl="1">
                <a:lnSpc>
                  <a:spcPts val="1919"/>
                </a:lnSpc>
              </a:pPr>
              <a:r>
                <a:rPr lang="en-US" sz="1599">
                  <a:solidFill>
                    <a:srgbClr val="000000"/>
                  </a:solidFill>
                  <a:latin typeface="Calibri (MS)"/>
                  <a:ea typeface="Calibri (MS)"/>
                  <a:cs typeface="Calibri (MS)"/>
                  <a:sym typeface="Calibri (MS)"/>
                </a:rPr>
                <a:t>In modern retail, s</a:t>
              </a:r>
              <a:r>
                <a:rPr lang="en-US" sz="1599">
                  <a:solidFill>
                    <a:srgbClr val="000000"/>
                  </a:solidFill>
                  <a:latin typeface="Calibri (MS)"/>
                  <a:ea typeface="Calibri (MS)"/>
                  <a:cs typeface="Calibri (MS)"/>
                  <a:sym typeface="Calibri (MS)"/>
                </a:rPr>
                <a:t>mall and medium enterprises (SMEs) face intense competition requiring speed at the checkout counter and precise control over supply chain margins. Small business owners typically rely either on complex, expensive legacy software with steep learning curves or error-prone manual paper registers. BizManager bridges this digital divide by offering an intuitive, browser-based retail terminal that unifies inventory tracking, customer relationship management (CRM), point-of-sale invoicing, and real-time expense bookkeeping into a single unified interface.</a:t>
              </a:r>
            </a:p>
          </p:txBody>
        </p:sp>
      </p:grpSp>
      <p:grpSp>
        <p:nvGrpSpPr>
          <p:cNvPr name="Group 6" id="6"/>
          <p:cNvGrpSpPr/>
          <p:nvPr/>
        </p:nvGrpSpPr>
        <p:grpSpPr>
          <a:xfrm rot="0">
            <a:off x="6990083" y="6798450"/>
            <a:ext cx="2275837" cy="389468"/>
            <a:chOff x="0" y="0"/>
            <a:chExt cx="3034449" cy="519290"/>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8" id="8"/>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3</a:t>
              </a:r>
            </a:p>
          </p:txBody>
        </p:sp>
      </p:grpSp>
      <p:sp>
        <p:nvSpPr>
          <p:cNvPr name="Freeform 9" id="9"/>
          <p:cNvSpPr/>
          <p:nvPr/>
        </p:nvSpPr>
        <p:spPr>
          <a:xfrm flipH="false" flipV="false" rot="0">
            <a:off x="4089326" y="2227596"/>
            <a:ext cx="5525615" cy="2860007"/>
          </a:xfrm>
          <a:custGeom>
            <a:avLst/>
            <a:gdLst/>
            <a:ahLst/>
            <a:cxnLst/>
            <a:rect r="r" b="b" t="t" l="l"/>
            <a:pathLst>
              <a:path h="2860007" w="5525615">
                <a:moveTo>
                  <a:pt x="0" y="0"/>
                </a:moveTo>
                <a:lnTo>
                  <a:pt x="5525615" y="0"/>
                </a:lnTo>
                <a:lnTo>
                  <a:pt x="5525615" y="2860008"/>
                </a:lnTo>
                <a:lnTo>
                  <a:pt x="0" y="2860008"/>
                </a:lnTo>
                <a:lnTo>
                  <a:pt x="0" y="0"/>
                </a:lnTo>
                <a:close/>
              </a:path>
            </a:pathLst>
          </a:custGeom>
          <a:blipFill>
            <a:blip r:embed="rId4"/>
            <a:stretch>
              <a:fillRect l="-3850" t="0" r="-3850" b="0"/>
            </a:stretch>
          </a:blipFill>
        </p:spPr>
      </p:sp>
      <p:sp>
        <p:nvSpPr>
          <p:cNvPr name="TextBox 10" id="10"/>
          <p:cNvSpPr txBox="true"/>
          <p:nvPr/>
        </p:nvSpPr>
        <p:spPr>
          <a:xfrm rot="0">
            <a:off x="704573" y="1376911"/>
            <a:ext cx="8107709"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861889" y="1436141"/>
            <a:ext cx="8107709" cy="1552575"/>
          </a:xfrm>
          <a:prstGeom prst="rect">
            <a:avLst/>
          </a:prstGeom>
        </p:spPr>
        <p:txBody>
          <a:bodyPr anchor="t" rtlCol="false" tIns="0" lIns="0" bIns="0" rIns="0">
            <a:spAutoFit/>
          </a:bodyPr>
          <a:lstStyle/>
          <a:p>
            <a:pPr algn="l">
              <a:lnSpc>
                <a:spcPts val="5719"/>
              </a:lnSpc>
            </a:pPr>
            <a:r>
              <a:rPr lang="en-US" sz="4766" b="true">
                <a:solidFill>
                  <a:srgbClr val="000000"/>
                </a:solidFill>
                <a:latin typeface="Calibri (MS) Bold"/>
                <a:ea typeface="Calibri (MS) Bold"/>
                <a:cs typeface="Calibri (MS) Bold"/>
                <a:sym typeface="Calibri (MS) Bold"/>
              </a:rPr>
              <a:t>Obje</a:t>
            </a:r>
            <a:r>
              <a:rPr lang="en-US" sz="4766" b="true">
                <a:solidFill>
                  <a:srgbClr val="000000"/>
                </a:solidFill>
                <a:latin typeface="Calibri (MS) Bold"/>
                <a:ea typeface="Calibri (MS) Bold"/>
                <a:cs typeface="Calibri (MS) Bold"/>
                <a:sym typeface="Calibri (MS) Bold"/>
              </a:rPr>
              <a:t>ctives</a:t>
            </a:r>
          </a:p>
          <a:p>
            <a:pPr algn="l">
              <a:lnSpc>
                <a:spcPts val="5719"/>
              </a:lnSpc>
            </a:pPr>
          </a:p>
        </p:txBody>
      </p:sp>
      <p:grpSp>
        <p:nvGrpSpPr>
          <p:cNvPr name="Group 4" id="4"/>
          <p:cNvGrpSpPr/>
          <p:nvPr/>
        </p:nvGrpSpPr>
        <p:grpSpPr>
          <a:xfrm rot="0">
            <a:off x="540651" y="2394744"/>
            <a:ext cx="8276945" cy="2950182"/>
            <a:chOff x="0" y="0"/>
            <a:chExt cx="11035926" cy="3933576"/>
          </a:xfrm>
        </p:grpSpPr>
        <p:sp>
          <p:nvSpPr>
            <p:cNvPr name="Freeform 5" id="5"/>
            <p:cNvSpPr/>
            <p:nvPr/>
          </p:nvSpPr>
          <p:spPr>
            <a:xfrm flipH="false" flipV="false" rot="0">
              <a:off x="0" y="0"/>
              <a:ext cx="11035926" cy="3933575"/>
            </a:xfrm>
            <a:custGeom>
              <a:avLst/>
              <a:gdLst/>
              <a:ahLst/>
              <a:cxnLst/>
              <a:rect r="r" b="b" t="t" l="l"/>
              <a:pathLst>
                <a:path h="3933575" w="11035926">
                  <a:moveTo>
                    <a:pt x="0" y="0"/>
                  </a:moveTo>
                  <a:lnTo>
                    <a:pt x="11035926" y="0"/>
                  </a:lnTo>
                  <a:lnTo>
                    <a:pt x="11035926" y="3933575"/>
                  </a:lnTo>
                  <a:lnTo>
                    <a:pt x="0" y="3933575"/>
                  </a:lnTo>
                  <a:close/>
                </a:path>
              </a:pathLst>
            </a:custGeom>
            <a:blipFill>
              <a:blip r:embed="rId3">
                <a:alphaModFix amt="0"/>
              </a:blip>
              <a:stretch>
                <a:fillRect l="0" t="-27636" r="-164" b="18123"/>
              </a:stretch>
            </a:blipFill>
          </p:spPr>
        </p:sp>
        <p:sp>
          <p:nvSpPr>
            <p:cNvPr name="TextBox 6" id="6"/>
            <p:cNvSpPr txBox="true"/>
            <p:nvPr/>
          </p:nvSpPr>
          <p:spPr>
            <a:xfrm>
              <a:off x="0" y="-38100"/>
              <a:ext cx="11035926" cy="3971676"/>
            </a:xfrm>
            <a:prstGeom prst="rect">
              <a:avLst/>
            </a:prstGeom>
          </p:spPr>
          <p:txBody>
            <a:bodyPr anchor="b" rtlCol="false" tIns="0" lIns="0" bIns="0" rIns="0"/>
            <a:lstStyle/>
            <a:p>
              <a:pPr algn="l">
                <a:lnSpc>
                  <a:spcPts val="2255"/>
                </a:lnSpc>
              </a:pPr>
              <a:r>
                <a:rPr lang="en-US" sz="1879">
                  <a:solidFill>
                    <a:srgbClr val="000000"/>
                  </a:solidFill>
                  <a:latin typeface="Calibri (MS)"/>
                  <a:ea typeface="Calibri (MS)"/>
                  <a:cs typeface="Calibri (MS)"/>
                  <a:sym typeface="Calibri (MS)"/>
                </a:rPr>
                <a:t>The primary objective of </a:t>
              </a:r>
              <a:r>
                <a:rPr lang="en-US" sz="1879">
                  <a:solidFill>
                    <a:srgbClr val="000000"/>
                  </a:solidFill>
                  <a:latin typeface="Calibri (MS)"/>
                  <a:ea typeface="Calibri (MS)"/>
                  <a:cs typeface="Calibri (MS)"/>
                  <a:sym typeface="Calibri (MS)"/>
                </a:rPr>
                <a:t>BizManager is to automate end-to-end retail business workflows while reducing operational friction at checkout. </a:t>
              </a:r>
            </a:p>
            <a:p>
              <a:pPr algn="l">
                <a:lnSpc>
                  <a:spcPts val="2255"/>
                </a:lnSpc>
              </a:pPr>
              <a:r>
                <a:rPr lang="en-US" sz="1879">
                  <a:solidFill>
                    <a:srgbClr val="000000"/>
                  </a:solidFill>
                  <a:latin typeface="Calibri (MS)"/>
                  <a:ea typeface="Calibri (MS)"/>
                  <a:cs typeface="Calibri (MS)"/>
                  <a:sym typeface="Calibri (MS)"/>
                </a:rPr>
                <a:t>    (1) Enabling rapid multi-item billing with inclusive/exclusive GST auto-  calculation </a:t>
              </a:r>
            </a:p>
            <a:p>
              <a:pPr algn="l">
                <a:lnSpc>
                  <a:spcPts val="2255"/>
                </a:lnSpc>
              </a:pPr>
              <a:r>
                <a:rPr lang="en-US" sz="1879">
                  <a:solidFill>
                    <a:srgbClr val="000000"/>
                  </a:solidFill>
                  <a:latin typeface="Calibri (MS)"/>
                  <a:ea typeface="Calibri (MS)"/>
                  <a:cs typeface="Calibri (MS)"/>
                  <a:sym typeface="Calibri (MS)"/>
                </a:rPr>
                <a:t>(2) Facilitating instant digital settlements via dynamic on-screen and printed UPI QR codes</a:t>
              </a:r>
            </a:p>
            <a:p>
              <a:pPr algn="l">
                <a:lnSpc>
                  <a:spcPts val="2255"/>
                </a:lnSpc>
              </a:pPr>
              <a:r>
                <a:rPr lang="en-US" sz="1879">
                  <a:solidFill>
                    <a:srgbClr val="000000"/>
                  </a:solidFill>
                  <a:latin typeface="Calibri (MS)"/>
                  <a:ea typeface="Calibri (MS)"/>
                  <a:cs typeface="Calibri (MS)"/>
                  <a:sym typeface="Calibri (MS)"/>
                </a:rPr>
                <a:t>(3) Automating inventory replenishment through integrated Purchase Orders and vendor ledgers</a:t>
              </a:r>
            </a:p>
            <a:p>
              <a:pPr algn="l">
                <a:lnSpc>
                  <a:spcPts val="2255"/>
                </a:lnSpc>
              </a:pPr>
              <a:r>
                <a:rPr lang="en-US" sz="1879">
                  <a:solidFill>
                    <a:srgbClr val="000000"/>
                  </a:solidFill>
                  <a:latin typeface="Calibri (MS)"/>
                  <a:ea typeface="Calibri (MS)"/>
                  <a:cs typeface="Calibri (MS)"/>
                  <a:sym typeface="Calibri (MS)"/>
                </a:rPr>
                <a:t>(4) Providing real-time financial transparency through automated Gross/Net Profit &amp; Loss computation and GST tax summaries</a:t>
              </a:r>
            </a:p>
            <a:p>
              <a:pPr algn="l" marL="241941" indent="-120971" lvl="1">
                <a:lnSpc>
                  <a:spcPts val="2255"/>
                </a:lnSpc>
              </a:pPr>
              <a:r>
                <a:rPr lang="en-US" sz="1879">
                  <a:solidFill>
                    <a:srgbClr val="000000"/>
                  </a:solidFill>
                  <a:latin typeface="Calibri (MS)"/>
                  <a:ea typeface="Calibri (MS)"/>
                  <a:cs typeface="Calibri (MS)"/>
                  <a:sym typeface="Calibri (MS)"/>
                </a:rPr>
                <a:t>(</a:t>
              </a:r>
              <a:r>
                <a:rPr lang="en-US" sz="1879">
                  <a:solidFill>
                    <a:srgbClr val="000000"/>
                  </a:solidFill>
                  <a:latin typeface="Calibri (MS)"/>
                  <a:ea typeface="Calibri (MS)"/>
                  <a:cs typeface="Calibri (MS)"/>
                  <a:sym typeface="Calibri (MS)"/>
                </a:rPr>
                <a:t>5) Enhancing customer retention via 1-click native SMS communication.</a:t>
              </a: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pSp>
        <p:nvGrpSpPr>
          <p:cNvPr name="Group 3" id="3"/>
          <p:cNvGrpSpPr/>
          <p:nvPr/>
        </p:nvGrpSpPr>
        <p:grpSpPr>
          <a:xfrm rot="0">
            <a:off x="-260193" y="2358072"/>
            <a:ext cx="5136993" cy="3554852"/>
            <a:chOff x="0" y="0"/>
            <a:chExt cx="6849323" cy="4739803"/>
          </a:xfrm>
        </p:grpSpPr>
        <p:sp>
          <p:nvSpPr>
            <p:cNvPr name="Freeform 4" id="4"/>
            <p:cNvSpPr/>
            <p:nvPr/>
          </p:nvSpPr>
          <p:spPr>
            <a:xfrm flipH="false" flipV="false" rot="0">
              <a:off x="0" y="0"/>
              <a:ext cx="6849324" cy="4739801"/>
            </a:xfrm>
            <a:custGeom>
              <a:avLst/>
              <a:gdLst/>
              <a:ahLst/>
              <a:cxnLst/>
              <a:rect r="r" b="b" t="t" l="l"/>
              <a:pathLst>
                <a:path h="4739801" w="6849324">
                  <a:moveTo>
                    <a:pt x="0" y="0"/>
                  </a:moveTo>
                  <a:lnTo>
                    <a:pt x="6849324" y="0"/>
                  </a:lnTo>
                  <a:lnTo>
                    <a:pt x="6849324" y="4739801"/>
                  </a:lnTo>
                  <a:lnTo>
                    <a:pt x="0" y="4739801"/>
                  </a:lnTo>
                  <a:close/>
                </a:path>
              </a:pathLst>
            </a:custGeom>
            <a:blipFill>
              <a:blip r:embed="rId3">
                <a:alphaModFix amt="0"/>
              </a:blip>
              <a:stretch>
                <a:fillRect l="0" t="-22935" r="-61389" b="32050"/>
              </a:stretch>
            </a:blipFill>
          </p:spPr>
        </p:sp>
        <p:sp>
          <p:nvSpPr>
            <p:cNvPr name="TextBox 5" id="5"/>
            <p:cNvSpPr txBox="true"/>
            <p:nvPr/>
          </p:nvSpPr>
          <p:spPr>
            <a:xfrm>
              <a:off x="0" y="-38100"/>
              <a:ext cx="6849323" cy="4777903"/>
            </a:xfrm>
            <a:prstGeom prst="rect">
              <a:avLst/>
            </a:prstGeom>
          </p:spPr>
          <p:txBody>
            <a:bodyPr anchor="b" rtlCol="false" tIns="0" lIns="0" bIns="0" rIns="0"/>
            <a:lstStyle/>
            <a:p>
              <a:pPr algn="l">
                <a:lnSpc>
                  <a:spcPts val="2135"/>
                </a:lnSpc>
              </a:pPr>
              <a:r>
                <a:rPr lang="en-US" sz="1779">
                  <a:solidFill>
                    <a:srgbClr val="000000"/>
                  </a:solidFill>
                  <a:latin typeface="Calibri (MS)"/>
                  <a:ea typeface="Calibri (MS)"/>
                  <a:cs typeface="Calibri (MS)"/>
                  <a:sym typeface="Calibri (MS)"/>
                </a:rPr>
                <a:t>Key Features</a:t>
              </a:r>
            </a:p>
            <a:p>
              <a:pPr algn="l">
                <a:lnSpc>
                  <a:spcPts val="2135"/>
                </a:lnSpc>
              </a:pPr>
              <a:r>
                <a:rPr lang="en-US" sz="1779">
                  <a:solidFill>
                    <a:srgbClr val="000000"/>
                  </a:solidFill>
                  <a:latin typeface="Calibri (MS)"/>
                  <a:ea typeface="Calibri (MS)"/>
                  <a:cs typeface="Calibri (MS)"/>
                  <a:sym typeface="Calibri (MS)"/>
                </a:rPr>
                <a:t>• POS &amp; Billing – Generate multi-item bills with automatic GST calculation.</a:t>
              </a:r>
            </a:p>
            <a:p>
              <a:pPr algn="l">
                <a:lnSpc>
                  <a:spcPts val="2135"/>
                </a:lnSpc>
              </a:pPr>
              <a:r>
                <a:rPr lang="en-US" sz="1779">
                  <a:solidFill>
                    <a:srgbClr val="000000"/>
                  </a:solidFill>
                  <a:latin typeface="Calibri (MS)"/>
                  <a:ea typeface="Calibri (MS)"/>
                  <a:cs typeface="Calibri (MS)"/>
                  <a:sym typeface="Calibri (MS)"/>
                </a:rPr>
                <a:t>• Inventory Management – Track stock levels and update inventory after sales and purchases.</a:t>
              </a:r>
            </a:p>
            <a:p>
              <a:pPr algn="l">
                <a:lnSpc>
                  <a:spcPts val="2135"/>
                </a:lnSpc>
              </a:pPr>
              <a:r>
                <a:rPr lang="en-US" sz="1779">
                  <a:solidFill>
                    <a:srgbClr val="000000"/>
                  </a:solidFill>
                  <a:latin typeface="Calibri (MS)"/>
                  <a:ea typeface="Calibri (MS)"/>
                  <a:cs typeface="Calibri (MS)"/>
                  <a:sym typeface="Calibri (MS)"/>
                </a:rPr>
                <a:t>• Automated Restocking – Detect low-stock products and recommend reorder quantities.</a:t>
              </a:r>
            </a:p>
            <a:p>
              <a:pPr algn="l">
                <a:lnSpc>
                  <a:spcPts val="2135"/>
                </a:lnSpc>
              </a:pPr>
              <a:r>
                <a:rPr lang="en-US" sz="1779">
                  <a:solidFill>
                    <a:srgbClr val="000000"/>
                  </a:solidFill>
                  <a:latin typeface="Calibri (MS)"/>
                  <a:ea typeface="Calibri (MS)"/>
                  <a:cs typeface="Calibri (MS)"/>
                  <a:sym typeface="Calibri (MS)"/>
                </a:rPr>
                <a:t>• Supplier &amp; Purchase Management – Manage suppliers, purchase orders and outstanding payables.</a:t>
              </a:r>
            </a:p>
            <a:p>
              <a:pPr algn="l">
                <a:lnSpc>
                  <a:spcPts val="2135"/>
                </a:lnSpc>
              </a:pPr>
              <a:r>
                <a:rPr lang="en-US" sz="1779">
                  <a:solidFill>
                    <a:srgbClr val="000000"/>
                  </a:solidFill>
                  <a:latin typeface="Calibri (MS)"/>
                  <a:ea typeface="Calibri (MS)"/>
                  <a:cs typeface="Calibri (MS)"/>
                  <a:sym typeface="Calibri (MS)"/>
                </a:rPr>
                <a:t>• Customer Management – Maintain customer records and purchase information.</a:t>
              </a:r>
            </a:p>
            <a:p>
              <a:pPr algn="l" marL="568086" indent="-284043" lvl="1">
                <a:lnSpc>
                  <a:spcPts val="2135"/>
                </a:lnSpc>
              </a:pPr>
            </a:p>
          </p:txBody>
        </p:sp>
      </p:grpSp>
      <p:grpSp>
        <p:nvGrpSpPr>
          <p:cNvPr name="Group 6" id="6"/>
          <p:cNvGrpSpPr/>
          <p:nvPr/>
        </p:nvGrpSpPr>
        <p:grpSpPr>
          <a:xfrm rot="0">
            <a:off x="6990083" y="6798450"/>
            <a:ext cx="2275837" cy="389468"/>
            <a:chOff x="0" y="0"/>
            <a:chExt cx="3034449" cy="519290"/>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8" id="8"/>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6</a:t>
              </a:r>
            </a:p>
          </p:txBody>
        </p:sp>
      </p:grpSp>
      <p:sp>
        <p:nvSpPr>
          <p:cNvPr name="TextBox 9" id="9"/>
          <p:cNvSpPr txBox="true"/>
          <p:nvPr/>
        </p:nvSpPr>
        <p:spPr>
          <a:xfrm rot="0">
            <a:off x="257255" y="1513546"/>
            <a:ext cx="8107709"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Scope</a:t>
            </a:r>
          </a:p>
        </p:txBody>
      </p:sp>
      <p:sp>
        <p:nvSpPr>
          <p:cNvPr name="TextBox 10" id="10"/>
          <p:cNvSpPr txBox="true"/>
          <p:nvPr/>
        </p:nvSpPr>
        <p:spPr>
          <a:xfrm rot="0">
            <a:off x="5030520" y="2384519"/>
            <a:ext cx="4392709" cy="3238500"/>
          </a:xfrm>
          <a:prstGeom prst="rect">
            <a:avLst/>
          </a:prstGeom>
        </p:spPr>
        <p:txBody>
          <a:bodyPr anchor="t" rtlCol="false" tIns="0" lIns="0" bIns="0" rIns="0">
            <a:spAutoFit/>
          </a:bodyPr>
          <a:lstStyle/>
          <a:p>
            <a:pPr algn="just">
              <a:lnSpc>
                <a:spcPts val="2160"/>
              </a:lnSpc>
              <a:spcBef>
                <a:spcPct val="0"/>
              </a:spcBef>
            </a:pPr>
            <a:r>
              <a:rPr lang="en-US" sz="1800">
                <a:solidFill>
                  <a:srgbClr val="000000"/>
                </a:solidFill>
                <a:latin typeface="Calibri (MS)"/>
                <a:ea typeface="Calibri (MS)"/>
                <a:cs typeface="Calibri (MS)"/>
                <a:sym typeface="Calibri (MS)"/>
              </a:rPr>
              <a:t>Project Coverage</a:t>
            </a:r>
          </a:p>
          <a:p>
            <a:pPr algn="just">
              <a:lnSpc>
                <a:spcPts val="2160"/>
              </a:lnSpc>
              <a:spcBef>
                <a:spcPct val="0"/>
              </a:spcBef>
            </a:pPr>
            <a:r>
              <a:rPr lang="en-US" sz="1800">
                <a:solidFill>
                  <a:srgbClr val="000000"/>
                </a:solidFill>
                <a:latin typeface="Calibri (MS)"/>
                <a:ea typeface="Calibri (MS)"/>
                <a:cs typeface="Calibri (MS)"/>
                <a:sym typeface="Calibri (MS)"/>
              </a:rPr>
              <a:t>• Financial Management – Track revenue, expenses, profit/loss and GST summaries.</a:t>
            </a:r>
          </a:p>
          <a:p>
            <a:pPr algn="just">
              <a:lnSpc>
                <a:spcPts val="2160"/>
              </a:lnSpc>
              <a:spcBef>
                <a:spcPct val="0"/>
              </a:spcBef>
            </a:pPr>
            <a:r>
              <a:rPr lang="en-US" sz="1800">
                <a:solidFill>
                  <a:srgbClr val="000000"/>
                </a:solidFill>
                <a:latin typeface="Calibri (MS)"/>
                <a:ea typeface="Calibri (MS)"/>
                <a:cs typeface="Calibri (MS)"/>
                <a:sym typeface="Calibri (MS)"/>
              </a:rPr>
              <a:t>• Invoice Generation – Generate PDF invoices and thermal-print receipts.</a:t>
            </a:r>
          </a:p>
          <a:p>
            <a:pPr algn="just">
              <a:lnSpc>
                <a:spcPts val="2160"/>
              </a:lnSpc>
              <a:spcBef>
                <a:spcPct val="0"/>
              </a:spcBef>
            </a:pPr>
            <a:r>
              <a:rPr lang="en-US" sz="1800">
                <a:solidFill>
                  <a:srgbClr val="000000"/>
                </a:solidFill>
                <a:latin typeface="Calibri (MS)"/>
                <a:ea typeface="Calibri (MS)"/>
                <a:cs typeface="Calibri (MS)"/>
                <a:sym typeface="Calibri (MS)"/>
              </a:rPr>
              <a:t>• Digital Payments – Generate dynamic UPI QR codes for customer payments.</a:t>
            </a:r>
          </a:p>
          <a:p>
            <a:pPr algn="just">
              <a:lnSpc>
                <a:spcPts val="2160"/>
              </a:lnSpc>
              <a:spcBef>
                <a:spcPct val="0"/>
              </a:spcBef>
            </a:pPr>
            <a:r>
              <a:rPr lang="en-US" sz="1800">
                <a:solidFill>
                  <a:srgbClr val="000000"/>
                </a:solidFill>
                <a:latin typeface="Calibri (MS)"/>
                <a:ea typeface="Calibri (MS)"/>
                <a:cs typeface="Calibri (MS)"/>
                <a:sym typeface="Calibri (MS)"/>
              </a:rPr>
              <a:t>• Reports &amp; Analytics – Provide sales, inventory and financial reports for decision-making.</a:t>
            </a:r>
          </a:p>
          <a:p>
            <a:pPr algn="just">
              <a:lnSpc>
                <a:spcPts val="2160"/>
              </a:lnSpc>
              <a:spcBef>
                <a:spcPct val="0"/>
              </a:spcBef>
            </a:pPr>
            <a:r>
              <a:rPr lang="en-US" sz="1800">
                <a:solidFill>
                  <a:srgbClr val="000000"/>
                </a:solidFill>
                <a:latin typeface="Calibri (MS)"/>
                <a:ea typeface="Calibri (MS)"/>
                <a:cs typeface="Calibri (MS)"/>
                <a:sym typeface="Calibri (MS)"/>
              </a:rPr>
              <a:t>• Data Portability – Support JSON data backup and CSV export for business records.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aphicFrame>
        <p:nvGraphicFramePr>
          <p:cNvPr name="Object 3" id="3"/>
          <p:cNvGraphicFramePr/>
          <p:nvPr/>
        </p:nvGraphicFramePr>
        <p:xfrm>
          <a:off x="533400" y="2048870"/>
          <a:ext cx="8686800" cy="4357783"/>
        </p:xfrm>
        <a:graphic>
          <a:graphicData uri="http://schemas.openxmlformats.org/presentationml/2006/ole">
            <p:oleObj imgW="10414000" imgH="6096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33400" y="1468395"/>
            <a:ext cx="6431599" cy="580476"/>
          </a:xfrm>
          <a:prstGeom prst="rect">
            <a:avLst/>
          </a:prstGeom>
        </p:spPr>
        <p:txBody>
          <a:bodyPr anchor="t" rtlCol="false" tIns="0" lIns="0" bIns="0" rIns="0">
            <a:spAutoFit/>
          </a:bodyPr>
          <a:lstStyle/>
          <a:p>
            <a:pPr algn="l">
              <a:lnSpc>
                <a:spcPts val="4061"/>
              </a:lnSpc>
            </a:pPr>
            <a:r>
              <a:rPr lang="en-US" sz="3384" b="true">
                <a:solidFill>
                  <a:srgbClr val="000000"/>
                </a:solidFill>
                <a:latin typeface="Calibri (MS) Bold"/>
                <a:ea typeface="Calibri (MS) Bold"/>
                <a:cs typeface="Calibri (MS) Bold"/>
                <a:sym typeface="Calibri (MS) Bold"/>
              </a:rPr>
              <a:t>Literature Survey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aphicFrame>
        <p:nvGraphicFramePr>
          <p:cNvPr name="Object 3" id="3"/>
          <p:cNvGraphicFramePr/>
          <p:nvPr/>
        </p:nvGraphicFramePr>
        <p:xfrm>
          <a:off x="533400" y="2048870"/>
          <a:ext cx="8686800" cy="4357783"/>
        </p:xfrm>
        <a:graphic>
          <a:graphicData uri="http://schemas.openxmlformats.org/presentationml/2006/ole">
            <p:oleObj imgW="10414000" imgH="6096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33400" y="1468395"/>
            <a:ext cx="6431599" cy="580476"/>
          </a:xfrm>
          <a:prstGeom prst="rect">
            <a:avLst/>
          </a:prstGeom>
        </p:spPr>
        <p:txBody>
          <a:bodyPr anchor="t" rtlCol="false" tIns="0" lIns="0" bIns="0" rIns="0">
            <a:spAutoFit/>
          </a:bodyPr>
          <a:lstStyle/>
          <a:p>
            <a:pPr algn="l">
              <a:lnSpc>
                <a:spcPts val="4061"/>
              </a:lnSpc>
            </a:pPr>
            <a:r>
              <a:rPr lang="en-US" sz="3384" b="true">
                <a:solidFill>
                  <a:srgbClr val="000000"/>
                </a:solidFill>
                <a:latin typeface="Calibri (MS) Bold"/>
                <a:ea typeface="Calibri (MS) Bold"/>
                <a:cs typeface="Calibri (MS) Bold"/>
                <a:sym typeface="Calibri (MS) Bold"/>
              </a:rPr>
              <a:t>Literature Survey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pSp>
        <p:nvGrpSpPr>
          <p:cNvPr name="Group 3" id="3"/>
          <p:cNvGrpSpPr/>
          <p:nvPr/>
        </p:nvGrpSpPr>
        <p:grpSpPr>
          <a:xfrm rot="0">
            <a:off x="499984" y="2873939"/>
            <a:ext cx="3536483" cy="1600199"/>
            <a:chOff x="0" y="0"/>
            <a:chExt cx="4715311" cy="2133599"/>
          </a:xfrm>
        </p:grpSpPr>
        <p:sp>
          <p:nvSpPr>
            <p:cNvPr name="Freeform 4" id="4"/>
            <p:cNvSpPr/>
            <p:nvPr/>
          </p:nvSpPr>
          <p:spPr>
            <a:xfrm flipH="false" flipV="false" rot="0">
              <a:off x="0" y="0"/>
              <a:ext cx="4715311" cy="2133598"/>
            </a:xfrm>
            <a:custGeom>
              <a:avLst/>
              <a:gdLst/>
              <a:ahLst/>
              <a:cxnLst/>
              <a:rect r="r" b="b" t="t" l="l"/>
              <a:pathLst>
                <a:path h="2133598" w="4715311">
                  <a:moveTo>
                    <a:pt x="0" y="0"/>
                  </a:moveTo>
                  <a:lnTo>
                    <a:pt x="4715311" y="0"/>
                  </a:lnTo>
                  <a:lnTo>
                    <a:pt x="4715311" y="2133598"/>
                  </a:lnTo>
                  <a:lnTo>
                    <a:pt x="0" y="2133598"/>
                  </a:lnTo>
                  <a:close/>
                </a:path>
              </a:pathLst>
            </a:custGeom>
            <a:blipFill>
              <a:blip r:embed="rId3">
                <a:alphaModFix amt="0"/>
              </a:blip>
              <a:stretch>
                <a:fillRect l="0" t="-50951" r="-134429" b="-50951"/>
              </a:stretch>
            </a:blipFill>
          </p:spPr>
        </p:sp>
        <p:sp>
          <p:nvSpPr>
            <p:cNvPr name="TextBox 5" id="5"/>
            <p:cNvSpPr txBox="true"/>
            <p:nvPr/>
          </p:nvSpPr>
          <p:spPr>
            <a:xfrm>
              <a:off x="0" y="-28575"/>
              <a:ext cx="4715311" cy="2162174"/>
            </a:xfrm>
            <a:prstGeom prst="rect">
              <a:avLst/>
            </a:prstGeom>
          </p:spPr>
          <p:txBody>
            <a:bodyPr anchor="b" rtlCol="false" tIns="0" lIns="0" bIns="0" rIns="0"/>
            <a:lstStyle/>
            <a:p>
              <a:pPr algn="l">
                <a:lnSpc>
                  <a:spcPts val="1536"/>
                </a:lnSpc>
              </a:pPr>
            </a:p>
            <a:p>
              <a:pPr algn="l" marL="408568" indent="-204284" lvl="1">
                <a:lnSpc>
                  <a:spcPts val="1536"/>
                </a:lnSpc>
              </a:pPr>
            </a:p>
          </p:txBody>
        </p:sp>
      </p:grpSp>
      <p:grpSp>
        <p:nvGrpSpPr>
          <p:cNvPr name="Group 6" id="6"/>
          <p:cNvGrpSpPr/>
          <p:nvPr/>
        </p:nvGrpSpPr>
        <p:grpSpPr>
          <a:xfrm rot="0">
            <a:off x="6990083" y="6798450"/>
            <a:ext cx="2275837" cy="389468"/>
            <a:chOff x="0" y="0"/>
            <a:chExt cx="3034449" cy="519290"/>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8" id="8"/>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10</a:t>
              </a:r>
            </a:p>
          </p:txBody>
        </p:sp>
      </p:grpSp>
      <p:sp>
        <p:nvSpPr>
          <p:cNvPr name="TextBox 9" id="9"/>
          <p:cNvSpPr txBox="true"/>
          <p:nvPr/>
        </p:nvSpPr>
        <p:spPr>
          <a:xfrm rot="0">
            <a:off x="124033" y="1584188"/>
            <a:ext cx="8107709"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Proposed System</a:t>
            </a:r>
          </a:p>
        </p:txBody>
      </p:sp>
      <p:sp>
        <p:nvSpPr>
          <p:cNvPr name="TextBox 10" id="10"/>
          <p:cNvSpPr txBox="true"/>
          <p:nvPr/>
        </p:nvSpPr>
        <p:spPr>
          <a:xfrm rot="0">
            <a:off x="124033" y="2361466"/>
            <a:ext cx="4626914" cy="2867025"/>
          </a:xfrm>
          <a:prstGeom prst="rect">
            <a:avLst/>
          </a:prstGeom>
        </p:spPr>
        <p:txBody>
          <a:bodyPr anchor="t" rtlCol="false" tIns="0" lIns="0" bIns="0" rIns="0">
            <a:spAutoFit/>
          </a:bodyPr>
          <a:lstStyle/>
          <a:p>
            <a:pPr algn="just">
              <a:lnSpc>
                <a:spcPts val="2048"/>
              </a:lnSpc>
              <a:spcBef>
                <a:spcPct val="0"/>
              </a:spcBef>
            </a:pPr>
            <a:r>
              <a:rPr lang="en-US" sz="1707">
                <a:solidFill>
                  <a:srgbClr val="000000"/>
                </a:solidFill>
                <a:latin typeface="Calibri (MS)"/>
                <a:ea typeface="Calibri (MS)"/>
                <a:cs typeface="Calibri (MS)"/>
                <a:sym typeface="Calibri (MS)"/>
              </a:rPr>
              <a:t>System Users</a:t>
            </a:r>
          </a:p>
          <a:p>
            <a:pPr algn="just">
              <a:lnSpc>
                <a:spcPts val="2048"/>
              </a:lnSpc>
              <a:spcBef>
                <a:spcPct val="0"/>
              </a:spcBef>
            </a:pPr>
            <a:r>
              <a:rPr lang="en-US" sz="1707">
                <a:solidFill>
                  <a:srgbClr val="000000"/>
                </a:solidFill>
                <a:latin typeface="Calibri (MS)"/>
                <a:ea typeface="Calibri (MS)"/>
                <a:cs typeface="Calibri (MS)"/>
                <a:sym typeface="Calibri (MS)"/>
              </a:rPr>
              <a:t>•Business Owner: manages overall business operations, monitors sales, inventory, expenses and financial performance.</a:t>
            </a:r>
          </a:p>
          <a:p>
            <a:pPr algn="just">
              <a:lnSpc>
                <a:spcPts val="2048"/>
              </a:lnSpc>
              <a:spcBef>
                <a:spcPct val="0"/>
              </a:spcBef>
            </a:pPr>
            <a:r>
              <a:rPr lang="en-US" sz="1707">
                <a:solidFill>
                  <a:srgbClr val="000000"/>
                </a:solidFill>
                <a:latin typeface="Calibri (MS)"/>
                <a:ea typeface="Calibri (MS)"/>
                <a:cs typeface="Calibri (MS)"/>
                <a:sym typeface="Calibri (MS)"/>
              </a:rPr>
              <a:t>•Administrator: manages users, products, suppliers, customers and system settings.</a:t>
            </a:r>
          </a:p>
          <a:p>
            <a:pPr algn="just">
              <a:lnSpc>
                <a:spcPts val="2048"/>
              </a:lnSpc>
              <a:spcBef>
                <a:spcPct val="0"/>
              </a:spcBef>
            </a:pPr>
            <a:r>
              <a:rPr lang="en-US" sz="1707">
                <a:solidFill>
                  <a:srgbClr val="000000"/>
                </a:solidFill>
                <a:latin typeface="Calibri (MS)"/>
                <a:ea typeface="Calibri (MS)"/>
                <a:cs typeface="Calibri (MS)"/>
                <a:sym typeface="Calibri (MS)"/>
              </a:rPr>
              <a:t>•Sales Executive: creates bills, processes sales, generates invoices and records customer transactions.</a:t>
            </a:r>
          </a:p>
          <a:p>
            <a:pPr algn="just">
              <a:lnSpc>
                <a:spcPts val="2048"/>
              </a:lnSpc>
              <a:spcBef>
                <a:spcPct val="0"/>
              </a:spcBef>
            </a:pPr>
            <a:r>
              <a:rPr lang="en-US" sz="1707">
                <a:solidFill>
                  <a:srgbClr val="000000"/>
                </a:solidFill>
                <a:latin typeface="Calibri (MS)"/>
                <a:ea typeface="Calibri (MS)"/>
                <a:cs typeface="Calibri (MS)"/>
                <a:sym typeface="Calibri (MS)"/>
              </a:rPr>
              <a:t>• Inventory Manager: monitors stock levels, records purchases and manages low-stock products.</a:t>
            </a:r>
          </a:p>
        </p:txBody>
      </p:sp>
      <p:sp>
        <p:nvSpPr>
          <p:cNvPr name="TextBox 11" id="11"/>
          <p:cNvSpPr txBox="true"/>
          <p:nvPr/>
        </p:nvSpPr>
        <p:spPr>
          <a:xfrm rot="0">
            <a:off x="5097043" y="2361466"/>
            <a:ext cx="4432230" cy="3381375"/>
          </a:xfrm>
          <a:prstGeom prst="rect">
            <a:avLst/>
          </a:prstGeom>
        </p:spPr>
        <p:txBody>
          <a:bodyPr anchor="t" rtlCol="false" tIns="0" lIns="0" bIns="0" rIns="0">
            <a:spAutoFit/>
          </a:bodyPr>
          <a:lstStyle/>
          <a:p>
            <a:pPr algn="l">
              <a:lnSpc>
                <a:spcPts val="2040"/>
              </a:lnSpc>
              <a:spcBef>
                <a:spcPct val="0"/>
              </a:spcBef>
            </a:pPr>
            <a:r>
              <a:rPr lang="en-US" sz="1700">
                <a:solidFill>
                  <a:srgbClr val="000000"/>
                </a:solidFill>
                <a:latin typeface="Calibri (MS)"/>
                <a:ea typeface="Calibri (MS)"/>
                <a:cs typeface="Calibri (MS)"/>
                <a:sym typeface="Calibri (MS)"/>
              </a:rPr>
              <a:t>System Components</a:t>
            </a:r>
          </a:p>
          <a:p>
            <a:pPr algn="l">
              <a:lnSpc>
                <a:spcPts val="2040"/>
              </a:lnSpc>
              <a:spcBef>
                <a:spcPct val="0"/>
              </a:spcBef>
            </a:pPr>
            <a:r>
              <a:rPr lang="en-US" sz="1700">
                <a:solidFill>
                  <a:srgbClr val="000000"/>
                </a:solidFill>
                <a:latin typeface="Calibri (MS)"/>
                <a:ea typeface="Calibri (MS)"/>
                <a:cs typeface="Calibri (MS)"/>
                <a:sym typeface="Calibri (MS)"/>
              </a:rPr>
              <a:t>• Management Layer: customer, product, supplier, employee and business-profile management.</a:t>
            </a:r>
          </a:p>
          <a:p>
            <a:pPr algn="l">
              <a:lnSpc>
                <a:spcPts val="2040"/>
              </a:lnSpc>
              <a:spcBef>
                <a:spcPct val="0"/>
              </a:spcBef>
            </a:pPr>
            <a:r>
              <a:rPr lang="en-US" sz="1700">
                <a:solidFill>
                  <a:srgbClr val="000000"/>
                </a:solidFill>
                <a:latin typeface="Calibri (MS)"/>
                <a:ea typeface="Calibri (MS)"/>
                <a:cs typeface="Calibri (MS)"/>
                <a:sym typeface="Calibri (MS)"/>
              </a:rPr>
              <a:t>• Transaction Layer: POS billing, sales, purchases, GST calculation, invoice generation and payment recording.</a:t>
            </a:r>
          </a:p>
          <a:p>
            <a:pPr algn="l">
              <a:lnSpc>
                <a:spcPts val="2040"/>
              </a:lnSpc>
              <a:spcBef>
                <a:spcPct val="0"/>
              </a:spcBef>
            </a:pPr>
            <a:r>
              <a:rPr lang="en-US" sz="1700">
                <a:solidFill>
                  <a:srgbClr val="000000"/>
                </a:solidFill>
                <a:latin typeface="Calibri (MS)"/>
                <a:ea typeface="Calibri (MS)"/>
                <a:cs typeface="Calibri (MS)"/>
                <a:sym typeface="Calibri (MS)"/>
              </a:rPr>
              <a:t>• Inventory Layer: real-time stock updates, low-stock detection and automated restocking recommendations.</a:t>
            </a:r>
          </a:p>
          <a:p>
            <a:pPr algn="l">
              <a:lnSpc>
                <a:spcPts val="2040"/>
              </a:lnSpc>
              <a:spcBef>
                <a:spcPct val="0"/>
              </a:spcBef>
            </a:pPr>
            <a:r>
              <a:rPr lang="en-US" sz="1700">
                <a:solidFill>
                  <a:srgbClr val="000000"/>
                </a:solidFill>
                <a:latin typeface="Calibri (MS)"/>
                <a:ea typeface="Calibri (MS)"/>
                <a:cs typeface="Calibri (MS)"/>
                <a:sym typeface="Calibri (MS)"/>
              </a:rPr>
              <a:t>• Analytics Layer: sales reports, inventory reports, expenses, revenue and Profit &amp; Loss analysis.</a:t>
            </a:r>
          </a:p>
          <a:p>
            <a:pPr algn="l">
              <a:lnSpc>
                <a:spcPts val="2040"/>
              </a:lnSpc>
              <a:spcBef>
                <a:spcPct val="0"/>
              </a:spcBef>
            </a:pPr>
            <a:r>
              <a:rPr lang="en-US" sz="1700">
                <a:solidFill>
                  <a:srgbClr val="000000"/>
                </a:solidFill>
                <a:latin typeface="Calibri (MS)"/>
                <a:ea typeface="Calibri (MS)"/>
                <a:cs typeface="Calibri (MS)"/>
                <a:sym typeface="Calibri (MS)"/>
              </a:rPr>
              <a:t>• Data Layer: centralized database with backup and CSV/JSON data export.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pSp>
        <p:nvGrpSpPr>
          <p:cNvPr name="Group 3" id="3"/>
          <p:cNvGrpSpPr/>
          <p:nvPr/>
        </p:nvGrpSpPr>
        <p:grpSpPr>
          <a:xfrm rot="0">
            <a:off x="6990083" y="6798450"/>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5" id="5"/>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12</a:t>
              </a:r>
            </a:p>
          </p:txBody>
        </p:sp>
      </p:grpSp>
      <p:graphicFrame>
        <p:nvGraphicFramePr>
          <p:cNvPr name="Object 6" id="6"/>
          <p:cNvGraphicFramePr/>
          <p:nvPr/>
        </p:nvGraphicFramePr>
        <p:xfrm>
          <a:off x="324000" y="2165961"/>
          <a:ext cx="8686800" cy="4357783"/>
        </p:xfrm>
        <a:graphic>
          <a:graphicData uri="http://schemas.openxmlformats.org/presentationml/2006/ole">
            <p:oleObj imgW="10414000" imgH="60960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324000" y="1423011"/>
            <a:ext cx="8107709"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Methodology</a:t>
            </a:r>
            <a:r>
              <a:rPr lang="en-US" sz="4266">
                <a:solidFill>
                  <a:srgbClr val="000000"/>
                </a:solidFill>
                <a:latin typeface="Calibri (MS)"/>
                <a:ea typeface="Calibri (MS)"/>
                <a:cs typeface="Calibri (MS)"/>
                <a:sym typeface="Calibri (MS)"/>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grpSp>
        <p:nvGrpSpPr>
          <p:cNvPr name="Group 3" id="3"/>
          <p:cNvGrpSpPr/>
          <p:nvPr/>
        </p:nvGrpSpPr>
        <p:grpSpPr>
          <a:xfrm rot="0">
            <a:off x="6990083" y="6798450"/>
            <a:ext cx="2275837" cy="389468"/>
            <a:chOff x="0" y="0"/>
            <a:chExt cx="3034449" cy="519290"/>
          </a:xfrm>
        </p:grpSpPr>
        <p:sp>
          <p:nvSpPr>
            <p:cNvPr name="Freeform 4" id="4"/>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5" id="5"/>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13</a:t>
              </a:r>
            </a:p>
          </p:txBody>
        </p:sp>
      </p:grpSp>
      <p:grpSp>
        <p:nvGrpSpPr>
          <p:cNvPr name="Group 6" id="6"/>
          <p:cNvGrpSpPr/>
          <p:nvPr/>
        </p:nvGrpSpPr>
        <p:grpSpPr>
          <a:xfrm rot="0">
            <a:off x="6990083" y="6798450"/>
            <a:ext cx="2275837" cy="389468"/>
            <a:chOff x="0" y="0"/>
            <a:chExt cx="3034449" cy="519290"/>
          </a:xfrm>
        </p:grpSpPr>
        <p:sp>
          <p:nvSpPr>
            <p:cNvPr name="Freeform 7" id="7"/>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8" id="8"/>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12</a:t>
              </a:r>
            </a:p>
          </p:txBody>
        </p:sp>
      </p:grpSp>
      <p:graphicFrame>
        <p:nvGraphicFramePr>
          <p:cNvPr name="Object 9" id="9"/>
          <p:cNvGraphicFramePr/>
          <p:nvPr/>
        </p:nvGraphicFramePr>
        <p:xfrm>
          <a:off x="162634" y="2128275"/>
          <a:ext cx="6313447" cy="5852160"/>
        </p:xfrm>
        <a:graphic>
          <a:graphicData uri="http://schemas.openxmlformats.org/presentationml/2006/ole">
            <p:oleObj imgW="7569200" imgH="71120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0" id="10"/>
          <p:cNvSpPr txBox="true"/>
          <p:nvPr/>
        </p:nvSpPr>
        <p:spPr>
          <a:xfrm rot="0">
            <a:off x="162634" y="1385325"/>
            <a:ext cx="8107709"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Data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497484" y="1587542"/>
            <a:ext cx="8768436" cy="742950"/>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Software &amp; Hardware Requirements</a:t>
            </a:r>
          </a:p>
        </p:txBody>
      </p:sp>
      <p:grpSp>
        <p:nvGrpSpPr>
          <p:cNvPr name="Group 4" id="4"/>
          <p:cNvGrpSpPr/>
          <p:nvPr/>
        </p:nvGrpSpPr>
        <p:grpSpPr>
          <a:xfrm rot="0">
            <a:off x="497484" y="2033627"/>
            <a:ext cx="7045870" cy="5012183"/>
            <a:chOff x="0" y="0"/>
            <a:chExt cx="9394494" cy="6682911"/>
          </a:xfrm>
        </p:grpSpPr>
        <p:sp>
          <p:nvSpPr>
            <p:cNvPr name="Freeform 5" id="5"/>
            <p:cNvSpPr/>
            <p:nvPr/>
          </p:nvSpPr>
          <p:spPr>
            <a:xfrm flipH="false" flipV="false" rot="0">
              <a:off x="0" y="0"/>
              <a:ext cx="9394494" cy="6682908"/>
            </a:xfrm>
            <a:custGeom>
              <a:avLst/>
              <a:gdLst/>
              <a:ahLst/>
              <a:cxnLst/>
              <a:rect r="r" b="b" t="t" l="l"/>
              <a:pathLst>
                <a:path h="6682908" w="9394494">
                  <a:moveTo>
                    <a:pt x="0" y="0"/>
                  </a:moveTo>
                  <a:lnTo>
                    <a:pt x="9394494" y="0"/>
                  </a:lnTo>
                  <a:lnTo>
                    <a:pt x="9394494" y="6682908"/>
                  </a:lnTo>
                  <a:lnTo>
                    <a:pt x="0" y="6682908"/>
                  </a:lnTo>
                  <a:close/>
                </a:path>
              </a:pathLst>
            </a:custGeom>
            <a:blipFill>
              <a:blip r:embed="rId3">
                <a:alphaModFix amt="0"/>
              </a:blip>
              <a:stretch>
                <a:fillRect l="0" t="-16266" r="-17665" b="51807"/>
              </a:stretch>
            </a:blipFill>
          </p:spPr>
        </p:sp>
        <p:sp>
          <p:nvSpPr>
            <p:cNvPr name="TextBox 6" id="6"/>
            <p:cNvSpPr txBox="true"/>
            <p:nvPr/>
          </p:nvSpPr>
          <p:spPr>
            <a:xfrm>
              <a:off x="0" y="-47625"/>
              <a:ext cx="9394494" cy="6730536"/>
            </a:xfrm>
            <a:prstGeom prst="rect">
              <a:avLst/>
            </a:prstGeom>
          </p:spPr>
          <p:txBody>
            <a:bodyPr anchor="b" rtlCol="false" tIns="0" lIns="0" bIns="0" rIns="0"/>
            <a:lstStyle/>
            <a:p>
              <a:pPr algn="l">
                <a:lnSpc>
                  <a:spcPts val="2615"/>
                </a:lnSpc>
              </a:pPr>
            </a:p>
            <a:p>
              <a:pPr algn="l">
                <a:lnSpc>
                  <a:spcPts val="2359"/>
                </a:lnSpc>
              </a:pPr>
              <a:r>
                <a:rPr lang="en-US" sz="1966" b="true">
                  <a:solidFill>
                    <a:srgbClr val="000000"/>
                  </a:solidFill>
                  <a:latin typeface="Calibri (MS) Bold"/>
                  <a:ea typeface="Calibri (MS) Bold"/>
                  <a:cs typeface="Calibri (MS) Bold"/>
                  <a:sym typeface="Calibri (MS) Bold"/>
                </a:rPr>
                <a:t>Software Requirements</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Operating System: Windows 10/11, macOS or Linux</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Runtime Environment: Node.js (v18 or higher) &amp; npm</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Frontend: React.js, Vite, Tailwind CSS</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Backend: Node.js &amp; Express.js</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Database / Storage: LowDB with structured JSON data</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Development Tools: VS Code, Git/GitHub</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Browser: Google Chrome, Microsoft Edge or Mozilla Firefox</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Additional Libraries: Libraries for PDF invoice generation, QR-code generation and data export</a:t>
              </a:r>
            </a:p>
            <a:p>
              <a:pPr algn="l">
                <a:lnSpc>
                  <a:spcPts val="2479"/>
                </a:lnSpc>
              </a:pPr>
              <a:r>
                <a:rPr lang="en-US" sz="2066" b="true">
                  <a:solidFill>
                    <a:srgbClr val="000000"/>
                  </a:solidFill>
                  <a:latin typeface="Calibri (MS) Bold"/>
                  <a:ea typeface="Calibri (MS) Bold"/>
                  <a:cs typeface="Calibri (MS) Bold"/>
                  <a:sym typeface="Calibri (MS) Bold"/>
                </a:rPr>
                <a:t>Hardware Requirements</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Processor: Dual-Core CPU @ 2.0 GHz or higher</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RAM: Minimum 4 GB (8 GB recommended)</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Storage: 500 MB available disk space</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Display: 1366 × 768 resolution or higher</a:t>
              </a:r>
            </a:p>
            <a:p>
              <a:pPr algn="l" marL="359830" indent="-179915" lvl="1">
                <a:lnSpc>
                  <a:spcPts val="1999"/>
                </a:lnSpc>
                <a:buFont typeface="Arial"/>
                <a:buChar char="•"/>
              </a:pPr>
              <a:r>
                <a:rPr lang="en-US" sz="1666">
                  <a:solidFill>
                    <a:srgbClr val="000000"/>
                  </a:solidFill>
                  <a:latin typeface="Calibri (MS)"/>
                  <a:ea typeface="Calibri (MS)"/>
                  <a:cs typeface="Calibri (MS)"/>
                  <a:sym typeface="Calibri (MS)"/>
                </a:rPr>
                <a:t>Peripherals: Keyboard, mouse and optional POS thermal receipt printer / barcode scanner</a:t>
              </a:r>
            </a:p>
            <a:p>
              <a:pPr algn="l">
                <a:lnSpc>
                  <a:spcPts val="2119"/>
                </a:lnSpc>
              </a:pP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14</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914371" y="1697663"/>
            <a:ext cx="8107709" cy="1365275"/>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Future Scope</a:t>
            </a:r>
          </a:p>
        </p:txBody>
      </p:sp>
      <p:grpSp>
        <p:nvGrpSpPr>
          <p:cNvPr name="Group 4" id="4"/>
          <p:cNvGrpSpPr/>
          <p:nvPr/>
        </p:nvGrpSpPr>
        <p:grpSpPr>
          <a:xfrm rot="0">
            <a:off x="379943" y="2239147"/>
            <a:ext cx="8432145" cy="3669822"/>
            <a:chOff x="0" y="0"/>
            <a:chExt cx="11242859" cy="4893095"/>
          </a:xfrm>
        </p:grpSpPr>
        <p:sp>
          <p:nvSpPr>
            <p:cNvPr name="Freeform 5" id="5"/>
            <p:cNvSpPr/>
            <p:nvPr/>
          </p:nvSpPr>
          <p:spPr>
            <a:xfrm flipH="false" flipV="false" rot="0">
              <a:off x="0" y="0"/>
              <a:ext cx="11242859" cy="4893094"/>
            </a:xfrm>
            <a:custGeom>
              <a:avLst/>
              <a:gdLst/>
              <a:ahLst/>
              <a:cxnLst/>
              <a:rect r="r" b="b" t="t" l="l"/>
              <a:pathLst>
                <a:path h="4893094" w="11242859">
                  <a:moveTo>
                    <a:pt x="0" y="0"/>
                  </a:moveTo>
                  <a:lnTo>
                    <a:pt x="11242859" y="0"/>
                  </a:lnTo>
                  <a:lnTo>
                    <a:pt x="11242859" y="4893094"/>
                  </a:lnTo>
                  <a:lnTo>
                    <a:pt x="0" y="4893094"/>
                  </a:lnTo>
                  <a:close/>
                </a:path>
              </a:pathLst>
            </a:custGeom>
            <a:blipFill>
              <a:blip r:embed="rId3">
                <a:alphaModFix amt="0"/>
              </a:blip>
              <a:stretch>
                <a:fillRect l="0" t="-22216" r="1679" b="34178"/>
              </a:stretch>
            </a:blipFill>
          </p:spPr>
        </p:sp>
        <p:sp>
          <p:nvSpPr>
            <p:cNvPr name="TextBox 6" id="6"/>
            <p:cNvSpPr txBox="true"/>
            <p:nvPr/>
          </p:nvSpPr>
          <p:spPr>
            <a:xfrm>
              <a:off x="0" y="-47625"/>
              <a:ext cx="11242859" cy="4940720"/>
            </a:xfrm>
            <a:prstGeom prst="rect">
              <a:avLst/>
            </a:prstGeom>
          </p:spPr>
          <p:txBody>
            <a:bodyPr anchor="b" rtlCol="false" tIns="0" lIns="0" bIns="0" rIns="0"/>
            <a:lstStyle/>
            <a:p>
              <a:pPr algn="l">
                <a:lnSpc>
                  <a:spcPts val="2615"/>
                </a:lnSpc>
              </a:pPr>
            </a:p>
            <a:p>
              <a:pPr algn="l" marL="695743" indent="-347871" lvl="1">
                <a:lnSpc>
                  <a:spcPts val="2615"/>
                </a:lnSpc>
                <a:buFont typeface="Arial"/>
                <a:buChar char="•"/>
              </a:pPr>
              <a:r>
                <a:rPr lang="en-US" sz="2179">
                  <a:solidFill>
                    <a:srgbClr val="000000"/>
                  </a:solidFill>
                  <a:latin typeface="Calibri (MS)"/>
                  <a:ea typeface="Calibri (MS)"/>
                  <a:cs typeface="Calibri (MS)"/>
                  <a:sym typeface="Calibri (MS)"/>
                </a:rPr>
                <a:t>AI-Powered Demand Forecasting — Analyze historical sales data to predict product demand and generate more accurate reorder recommendations.</a:t>
              </a:r>
            </a:p>
            <a:p>
              <a:pPr algn="l" marL="695743" indent="-347871" lvl="1">
                <a:lnSpc>
                  <a:spcPts val="2615"/>
                </a:lnSpc>
                <a:buFont typeface="Arial"/>
                <a:buChar char="•"/>
              </a:pPr>
              <a:r>
                <a:rPr lang="en-US" sz="2179">
                  <a:solidFill>
                    <a:srgbClr val="000000"/>
                  </a:solidFill>
                  <a:latin typeface="Calibri (MS)"/>
                  <a:ea typeface="Calibri (MS)"/>
                  <a:cs typeface="Calibri (MS)"/>
                  <a:sym typeface="Calibri (MS)"/>
                </a:rPr>
                <a:t>Multi-Branch &amp; Warehouse Management — Extend BizManager to manage and synchronize inventory and sales across multiple stores and warehouses.</a:t>
              </a:r>
            </a:p>
            <a:p>
              <a:pPr algn="l" marL="695743" indent="-347871" lvl="1">
                <a:lnSpc>
                  <a:spcPts val="2615"/>
                </a:lnSpc>
                <a:buFont typeface="Arial"/>
                <a:buChar char="•"/>
              </a:pPr>
              <a:r>
                <a:rPr lang="en-US" sz="2179">
                  <a:solidFill>
                    <a:srgbClr val="000000"/>
                  </a:solidFill>
                  <a:latin typeface="Calibri (MS)"/>
                  <a:ea typeface="Calibri (MS)"/>
                  <a:cs typeface="Calibri (MS)"/>
                  <a:sym typeface="Calibri (MS)"/>
                </a:rPr>
                <a:t>Cloud &amp; Mobile Integration — Enable secure cloud-based data access and provide a mobile application for remote monitoring of sales, inventory and financial performance.</a:t>
              </a:r>
            </a:p>
            <a:p>
              <a:pPr algn="l">
                <a:lnSpc>
                  <a:spcPts val="2615"/>
                </a:lnSpc>
              </a:pP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16</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861889" y="1508884"/>
            <a:ext cx="8107709" cy="1365275"/>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Conclusion</a:t>
            </a:r>
          </a:p>
        </p:txBody>
      </p:sp>
      <p:grpSp>
        <p:nvGrpSpPr>
          <p:cNvPr name="Group 4" id="4"/>
          <p:cNvGrpSpPr/>
          <p:nvPr/>
        </p:nvGrpSpPr>
        <p:grpSpPr>
          <a:xfrm rot="0">
            <a:off x="520691" y="2361446"/>
            <a:ext cx="8290560" cy="4093182"/>
            <a:chOff x="0" y="0"/>
            <a:chExt cx="11054080" cy="5457576"/>
          </a:xfrm>
        </p:grpSpPr>
        <p:sp>
          <p:nvSpPr>
            <p:cNvPr name="Freeform 5" id="5"/>
            <p:cNvSpPr/>
            <p:nvPr/>
          </p:nvSpPr>
          <p:spPr>
            <a:xfrm flipH="false" flipV="false" rot="0">
              <a:off x="0" y="0"/>
              <a:ext cx="11054080" cy="5457574"/>
            </a:xfrm>
            <a:custGeom>
              <a:avLst/>
              <a:gdLst/>
              <a:ahLst/>
              <a:cxnLst/>
              <a:rect r="r" b="b" t="t" l="l"/>
              <a:pathLst>
                <a:path h="5457574" w="11054080">
                  <a:moveTo>
                    <a:pt x="0" y="0"/>
                  </a:moveTo>
                  <a:lnTo>
                    <a:pt x="11054080" y="0"/>
                  </a:lnTo>
                  <a:lnTo>
                    <a:pt x="11054080" y="5457574"/>
                  </a:lnTo>
                  <a:lnTo>
                    <a:pt x="0" y="5457574"/>
                  </a:lnTo>
                  <a:close/>
                </a:path>
              </a:pathLst>
            </a:custGeom>
            <a:blipFill>
              <a:blip r:embed="rId3">
                <a:alphaModFix amt="0"/>
              </a:blip>
              <a:stretch>
                <a:fillRect l="0" t="-19918" r="0" b="40986"/>
              </a:stretch>
            </a:blipFill>
          </p:spPr>
        </p:sp>
        <p:sp>
          <p:nvSpPr>
            <p:cNvPr name="TextBox 6" id="6"/>
            <p:cNvSpPr txBox="true"/>
            <p:nvPr/>
          </p:nvSpPr>
          <p:spPr>
            <a:xfrm>
              <a:off x="0" y="-38100"/>
              <a:ext cx="11054080" cy="5495676"/>
            </a:xfrm>
            <a:prstGeom prst="rect">
              <a:avLst/>
            </a:prstGeom>
          </p:spPr>
          <p:txBody>
            <a:bodyPr anchor="b" rtlCol="false" tIns="0" lIns="0" bIns="0" rIns="0"/>
            <a:lstStyle/>
            <a:p>
              <a:pPr algn="l" marL="600000" indent="-300000" lvl="1">
                <a:lnSpc>
                  <a:spcPts val="2255"/>
                </a:lnSpc>
                <a:buFont typeface="Arial"/>
                <a:buChar char="•"/>
              </a:pPr>
              <a:r>
                <a:rPr lang="en-US" sz="1879">
                  <a:solidFill>
                    <a:srgbClr val="000000"/>
                  </a:solidFill>
                  <a:latin typeface="Calibri (MS)"/>
                  <a:ea typeface="Calibri (MS)"/>
                  <a:cs typeface="Calibri (MS)"/>
                  <a:sym typeface="Calibri (MS)"/>
                </a:rPr>
                <a:t>BizManager successfully demonstrates a cloud-ready retail management system that integrates POS billing, inventory management, supplier and customer management, purchases, expenses, payments and financial reporting into a unified web application.</a:t>
              </a:r>
            </a:p>
            <a:p>
              <a:pPr algn="l" marL="600000" indent="-300000" lvl="1">
                <a:lnSpc>
                  <a:spcPts val="2255"/>
                </a:lnSpc>
                <a:buFont typeface="Arial"/>
                <a:buChar char="•"/>
              </a:pPr>
              <a:r>
                <a:rPr lang="en-US" sz="1879">
                  <a:solidFill>
                    <a:srgbClr val="000000"/>
                  </a:solidFill>
                  <a:latin typeface="Calibri (MS)"/>
                  <a:ea typeface="Calibri (MS)"/>
                  <a:cs typeface="Calibri (MS)"/>
                  <a:sym typeface="Calibri (MS)"/>
                </a:rPr>
                <a:t>The system automates stock updates and low-stock monitoring, reducing manual inventory tracking and supporting timely restocking decisions.</a:t>
              </a:r>
            </a:p>
            <a:p>
              <a:pPr algn="l" marL="600000" indent="-300000" lvl="1">
                <a:lnSpc>
                  <a:spcPts val="2255"/>
                </a:lnSpc>
                <a:buFont typeface="Arial"/>
                <a:buChar char="•"/>
              </a:pPr>
              <a:r>
                <a:rPr lang="en-US" sz="1879">
                  <a:solidFill>
                    <a:srgbClr val="000000"/>
                  </a:solidFill>
                  <a:latin typeface="Calibri (MS)"/>
                  <a:ea typeface="Calibri (MS)"/>
                  <a:cs typeface="Calibri (MS)"/>
                  <a:sym typeface="Calibri (MS)"/>
                </a:rPr>
                <a:t>Integrated GST billing, invoice generation, payment handling and sales history simplify day-to-day retail transactions.</a:t>
              </a:r>
            </a:p>
            <a:p>
              <a:pPr algn="l" marL="600000" indent="-300000" lvl="1">
                <a:lnSpc>
                  <a:spcPts val="2255"/>
                </a:lnSpc>
                <a:buFont typeface="Arial"/>
                <a:buChar char="•"/>
              </a:pPr>
              <a:r>
                <a:rPr lang="en-US" sz="1879">
                  <a:solidFill>
                    <a:srgbClr val="000000"/>
                  </a:solidFill>
                  <a:latin typeface="Calibri (MS)"/>
                  <a:ea typeface="Calibri (MS)"/>
                  <a:cs typeface="Calibri (MS)"/>
                  <a:sym typeface="Calibri (MS)"/>
                </a:rPr>
                <a:t>The financial intelligence and reporting modules provide insights into sales, revenue, expenses and Profit &amp; Loss, helping business owners make data-driven decisions.</a:t>
              </a:r>
            </a:p>
            <a:p>
              <a:pPr algn="l" marL="600000" indent="-300000" lvl="1">
                <a:lnSpc>
                  <a:spcPts val="2255"/>
                </a:lnSpc>
                <a:buFont typeface="Arial"/>
                <a:buChar char="•"/>
              </a:pPr>
              <a:r>
                <a:rPr lang="en-US" sz="1879">
                  <a:solidFill>
                    <a:srgbClr val="000000"/>
                  </a:solidFill>
                  <a:latin typeface="Calibri (MS)"/>
                  <a:ea typeface="Calibri (MS)"/>
                  <a:cs typeface="Calibri (MS)"/>
                  <a:sym typeface="Calibri (MS)"/>
                </a:rPr>
                <a:t>Overall, BizManager provides a centralized, scalable and user-friendly platform for managing core retail operations efficiently.</a:t>
              </a:r>
            </a:p>
            <a:p>
              <a:pPr algn="l" marL="600079" indent="-300039" lvl="1">
                <a:lnSpc>
                  <a:spcPts val="2255"/>
                </a:lnSpc>
              </a:pP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15</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0" t="0" r="0" b="0"/>
            </a:stretch>
          </a:blipFill>
        </p:spPr>
      </p:sp>
      <p:sp>
        <p:nvSpPr>
          <p:cNvPr name="TextBox 3" id="3"/>
          <p:cNvSpPr txBox="true"/>
          <p:nvPr/>
        </p:nvSpPr>
        <p:spPr>
          <a:xfrm rot="0">
            <a:off x="861889" y="1508884"/>
            <a:ext cx="8107709" cy="1365275"/>
          </a:xfrm>
          <a:prstGeom prst="rect">
            <a:avLst/>
          </a:prstGeom>
        </p:spPr>
        <p:txBody>
          <a:bodyPr anchor="t" rtlCol="false" tIns="0" lIns="0" bIns="0" rIns="0">
            <a:spAutoFit/>
          </a:bodyPr>
          <a:lstStyle/>
          <a:p>
            <a:pPr algn="l">
              <a:lnSpc>
                <a:spcPts val="5120"/>
              </a:lnSpc>
            </a:pPr>
            <a:r>
              <a:rPr lang="en-US" sz="4266" b="true">
                <a:solidFill>
                  <a:srgbClr val="000000"/>
                </a:solidFill>
                <a:latin typeface="Calibri (MS) Bold"/>
                <a:ea typeface="Calibri (MS) Bold"/>
                <a:cs typeface="Calibri (MS) Bold"/>
                <a:sym typeface="Calibri (MS) Bold"/>
              </a:rPr>
              <a:t>References</a:t>
            </a:r>
          </a:p>
        </p:txBody>
      </p:sp>
      <p:grpSp>
        <p:nvGrpSpPr>
          <p:cNvPr name="Group 4" id="4"/>
          <p:cNvGrpSpPr/>
          <p:nvPr/>
        </p:nvGrpSpPr>
        <p:grpSpPr>
          <a:xfrm rot="0">
            <a:off x="731520" y="2368414"/>
            <a:ext cx="7847748" cy="2578372"/>
            <a:chOff x="0" y="0"/>
            <a:chExt cx="10516392" cy="3455154"/>
          </a:xfrm>
        </p:grpSpPr>
        <p:sp>
          <p:nvSpPr>
            <p:cNvPr name="Freeform 5" id="5"/>
            <p:cNvSpPr/>
            <p:nvPr/>
          </p:nvSpPr>
          <p:spPr>
            <a:xfrm flipH="false" flipV="false" rot="0">
              <a:off x="0" y="0"/>
              <a:ext cx="10516392" cy="3455152"/>
            </a:xfrm>
            <a:custGeom>
              <a:avLst/>
              <a:gdLst/>
              <a:ahLst/>
              <a:cxnLst/>
              <a:rect r="r" b="b" t="t" l="l"/>
              <a:pathLst>
                <a:path h="3455152" w="10516392">
                  <a:moveTo>
                    <a:pt x="0" y="0"/>
                  </a:moveTo>
                  <a:lnTo>
                    <a:pt x="10516392" y="0"/>
                  </a:lnTo>
                  <a:lnTo>
                    <a:pt x="10516392" y="3455152"/>
                  </a:lnTo>
                  <a:lnTo>
                    <a:pt x="0" y="3455152"/>
                  </a:lnTo>
                  <a:close/>
                </a:path>
              </a:pathLst>
            </a:custGeom>
            <a:blipFill>
              <a:blip r:embed="rId3">
                <a:alphaModFix amt="0"/>
              </a:blip>
              <a:stretch>
                <a:fillRect l="0" t="-31462" r="-5112" b="6785"/>
              </a:stretch>
            </a:blipFill>
          </p:spPr>
        </p:sp>
        <p:sp>
          <p:nvSpPr>
            <p:cNvPr name="TextBox 6" id="6"/>
            <p:cNvSpPr txBox="true"/>
            <p:nvPr/>
          </p:nvSpPr>
          <p:spPr>
            <a:xfrm>
              <a:off x="0" y="-38100"/>
              <a:ext cx="10516392" cy="3493254"/>
            </a:xfrm>
            <a:prstGeom prst="rect">
              <a:avLst/>
            </a:prstGeom>
          </p:spPr>
          <p:txBody>
            <a:bodyPr anchor="b" rtlCol="false" tIns="0" lIns="0" bIns="0" rIns="0"/>
            <a:lstStyle/>
            <a:p>
              <a:pPr algn="l" marL="362710" indent="-181355" lvl="1">
                <a:lnSpc>
                  <a:spcPts val="2015"/>
                </a:lnSpc>
                <a:buFont typeface="Arial"/>
                <a:buChar char="•"/>
              </a:pPr>
              <a:r>
                <a:rPr lang="en-US" sz="1679">
                  <a:solidFill>
                    <a:srgbClr val="000000"/>
                  </a:solidFill>
                  <a:latin typeface="Calibri (MS)"/>
                  <a:ea typeface="Calibri (MS)"/>
                  <a:cs typeface="Calibri (MS)"/>
                  <a:sym typeface="Calibri (MS)"/>
                </a:rPr>
                <a:t>Ziemba, P., &amp; Gago, I. (2022) – ERP systems for SMEs. Procedia Computer Science, 207, 3378–3386. DOI: 10.1016/j.procs.2022.09.397.</a:t>
              </a:r>
            </a:p>
            <a:p>
              <a:pPr algn="l" marL="362710" indent="-181355" lvl="1">
                <a:lnSpc>
                  <a:spcPts val="2015"/>
                </a:lnSpc>
                <a:buFont typeface="Arial"/>
                <a:buChar char="•"/>
              </a:pPr>
              <a:r>
                <a:rPr lang="en-US" sz="1679">
                  <a:solidFill>
                    <a:srgbClr val="000000"/>
                  </a:solidFill>
                  <a:latin typeface="Calibri (MS)"/>
                  <a:ea typeface="Calibri (MS)"/>
                  <a:cs typeface="Calibri (MS)"/>
                  <a:sym typeface="Calibri (MS)"/>
                </a:rPr>
                <a:t>Haddara, M., &amp; Zach, O. (2012) – ERP Systems in SMEs: An Extended Literature Review.</a:t>
              </a:r>
            </a:p>
            <a:p>
              <a:pPr algn="l" marL="362710" indent="-181355" lvl="1">
                <a:lnSpc>
                  <a:spcPts val="2015"/>
                </a:lnSpc>
                <a:buFont typeface="Arial"/>
                <a:buChar char="•"/>
              </a:pPr>
              <a:r>
                <a:rPr lang="en-US" sz="1679">
                  <a:solidFill>
                    <a:srgbClr val="000000"/>
                  </a:solidFill>
                  <a:latin typeface="Calibri (MS)"/>
                  <a:ea typeface="Calibri (MS)"/>
                  <a:cs typeface="Calibri (MS)"/>
                  <a:sym typeface="Calibri (MS)"/>
                </a:rPr>
                <a:t>Botta-Genoulaz, V., Millet, P.-A., &amp; Grabot, B. (2005) – Survey of ERP research literature.</a:t>
              </a:r>
            </a:p>
            <a:p>
              <a:pPr algn="l" marL="362710" indent="-181355" lvl="1">
                <a:lnSpc>
                  <a:spcPts val="2015"/>
                </a:lnSpc>
                <a:buFont typeface="Arial"/>
                <a:buChar char="•"/>
              </a:pPr>
              <a:r>
                <a:rPr lang="en-US" sz="1679">
                  <a:solidFill>
                    <a:srgbClr val="000000"/>
                  </a:solidFill>
                  <a:latin typeface="Calibri (MS)"/>
                  <a:ea typeface="Calibri (MS)"/>
                  <a:cs typeface="Calibri (MS)"/>
                  <a:sym typeface="Calibri (MS)"/>
                </a:rPr>
                <a:t>Malhotra, R., &amp; Temponi, C. (2010) – ERP integration and small-business issues.</a:t>
              </a:r>
            </a:p>
            <a:p>
              <a:pPr algn="l" marL="384300" indent="-192150" lvl="1">
                <a:lnSpc>
                  <a:spcPts val="2135"/>
                </a:lnSpc>
                <a:buFont typeface="Arial"/>
                <a:buChar char="•"/>
              </a:pPr>
              <a:r>
                <a:rPr lang="en-US" sz="1779">
                  <a:solidFill>
                    <a:srgbClr val="000000"/>
                  </a:solidFill>
                  <a:latin typeface="Calibri (MS)"/>
                  <a:ea typeface="Calibri (MS)"/>
                  <a:cs typeface="Calibri (MS)"/>
                  <a:sym typeface="Calibri (MS)"/>
                </a:rPr>
                <a:t>Cebeci, U. (2009) – ERP selection using Fuzzy AHP.</a:t>
              </a:r>
            </a:p>
            <a:p>
              <a:pPr algn="l">
                <a:lnSpc>
                  <a:spcPts val="2015"/>
                </a:lnSpc>
              </a:pPr>
            </a:p>
            <a:p>
              <a:pPr algn="l" marL="536242" indent="-268121" lvl="1">
                <a:lnSpc>
                  <a:spcPts val="2015"/>
                </a:lnSpc>
              </a:pPr>
            </a:p>
          </p:txBody>
        </p:sp>
      </p:grpSp>
      <p:grpSp>
        <p:nvGrpSpPr>
          <p:cNvPr name="Group 7" id="7"/>
          <p:cNvGrpSpPr/>
          <p:nvPr/>
        </p:nvGrpSpPr>
        <p:grpSpPr>
          <a:xfrm rot="0">
            <a:off x="6990083" y="6798450"/>
            <a:ext cx="2275837" cy="389468"/>
            <a:chOff x="0" y="0"/>
            <a:chExt cx="3034449" cy="519290"/>
          </a:xfrm>
        </p:grpSpPr>
        <p:sp>
          <p:nvSpPr>
            <p:cNvPr name="Freeform 8" id="8"/>
            <p:cNvSpPr/>
            <p:nvPr/>
          </p:nvSpPr>
          <p:spPr>
            <a:xfrm flipH="false" flipV="false" rot="0">
              <a:off x="0" y="0"/>
              <a:ext cx="3034453" cy="519289"/>
            </a:xfrm>
            <a:custGeom>
              <a:avLst/>
              <a:gdLst/>
              <a:ahLst/>
              <a:cxnLst/>
              <a:rect r="r" b="b" t="t" l="l"/>
              <a:pathLst>
                <a:path h="519289" w="3034453">
                  <a:moveTo>
                    <a:pt x="0" y="0"/>
                  </a:moveTo>
                  <a:lnTo>
                    <a:pt x="3034453" y="0"/>
                  </a:lnTo>
                  <a:lnTo>
                    <a:pt x="3034453" y="519289"/>
                  </a:lnTo>
                  <a:lnTo>
                    <a:pt x="0" y="519289"/>
                  </a:lnTo>
                  <a:close/>
                </a:path>
              </a:pathLst>
            </a:custGeom>
            <a:blipFill>
              <a:blip r:embed="rId3">
                <a:alphaModFix amt="0"/>
              </a:blip>
              <a:stretch>
                <a:fillRect l="0" t="-63860" r="0" b="-63860"/>
              </a:stretch>
            </a:blipFill>
          </p:spPr>
        </p:sp>
        <p:sp>
          <p:nvSpPr>
            <p:cNvPr name="TextBox 9" id="9"/>
            <p:cNvSpPr txBox="true"/>
            <p:nvPr/>
          </p:nvSpPr>
          <p:spPr>
            <a:xfrm>
              <a:off x="0" y="-28575"/>
              <a:ext cx="3034449" cy="547865"/>
            </a:xfrm>
            <a:prstGeom prst="rect">
              <a:avLst/>
            </a:prstGeom>
          </p:spPr>
          <p:txBody>
            <a:bodyPr anchor="ctr" rtlCol="false" tIns="0" lIns="0" bIns="0" rIns="0"/>
            <a:lstStyle/>
            <a:p>
              <a:pPr algn="r">
                <a:lnSpc>
                  <a:spcPts val="1343"/>
                </a:lnSpc>
              </a:pPr>
              <a:r>
                <a:rPr lang="en-US" sz="1119">
                  <a:solidFill>
                    <a:srgbClr val="888888"/>
                  </a:solidFill>
                  <a:latin typeface="Calibri (MS)"/>
                  <a:ea typeface="Calibri (MS)"/>
                  <a:cs typeface="Calibri (MS)"/>
                  <a:sym typeface="Calibri (MS)"/>
                </a:rPr>
                <a:t>17</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DAHTZGgHe90</dc:identifier>
  <dcterms:modified xsi:type="dcterms:W3CDTF">2011-08-01T06:04:30Z</dcterms:modified>
  <cp:revision>1</cp:revision>
  <dc:title>C181_C157_Project_Approval_Presentation</dc:title>
</cp:coreProperties>
</file>